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FEB"/>
    <a:srgbClr val="F8EDEB"/>
    <a:srgbClr val="DFE7FD"/>
    <a:srgbClr val="FFF1E6"/>
    <a:srgbClr val="FDE2E4"/>
    <a:srgbClr val="FFEBF3"/>
    <a:srgbClr val="FFC8DD"/>
    <a:srgbClr val="EEE5F3"/>
    <a:srgbClr val="CDB4DB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EA076-69ED-405D-97A6-829DADEFD75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FBB7D-DBEE-42A2-9616-53C540D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21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FBB7D-DBEE-42A2-9616-53C540D70F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4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00AB-7630-9992-C06E-238DB6730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CA4EC-C94C-208A-A774-FB83C535F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4DFD5-A37A-0206-A7AB-AD3B506A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D599F-438E-8238-D567-256DB039F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A621-0661-D384-EEB9-4EC0EE16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19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A1CF-0491-0F87-F773-5147A9B5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921C-4E98-D966-D9E1-9383DE23E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FF70A-20B5-2390-5150-47DDE0A6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AE44A-31F3-7486-2A23-0556BBB0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B3DCF-8F08-2ED8-C2B6-2C2A390D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1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EC91A-3CA1-7774-1559-C4F531CB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CFFB1-BD3B-31CC-665E-793E7A14A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35C42-9799-7661-F14D-C19CCCC8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F5550-159D-27A5-7F4B-A3B7C158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D8F36-5E09-B89C-6450-2BCD06B0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79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71F74-CD54-F71B-0249-A33EDEB8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53AF7-E70A-0FFE-F3F3-5B176C1E3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D2491-428E-16C2-4FB3-E66C3195A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FCEF4-8CA1-94FB-DCF2-521DBB71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A0186-0FD8-2FAC-5242-B6426C3F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8073-7E8A-8FD8-A478-3431CA1C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26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68B8-BB9A-A21F-3E37-26486D2B4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B4966-1569-FEFE-F5F5-1FE4B7309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3F412-8DD0-4F8D-7914-F88896FD3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48C5D-FEDE-0833-4E55-BC3C5EE0C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429D0-D562-71E3-64A7-0A0C84BF1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74C37-88FD-658F-9BD6-57770327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CB0D4-559C-E011-3FE6-114001B5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751D67-3033-BE7A-82C1-3DCC6BDF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7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E6D8-A1A7-8CF3-691B-A58CBCE6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41E9C-673D-C5A8-2F6B-172ECC02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36B65-10A8-C299-FFF6-4BC8572D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82D40-4E31-3705-F85B-8CD85569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08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3504A9-342A-D925-662D-D236C3F07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1EFA3-DC22-73B2-4DE6-6AD7313FA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15AE7-6531-537A-A3E8-369D48D2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2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6481-A54A-22BA-A02E-9F42D122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0190-1E80-418A-689A-48C50C8D9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26FE6-881C-7893-FE9F-5E5AE1202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D6B63-F621-6388-475A-513CFE97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F6DD0-1E4A-C1A6-017B-27BCF2E3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E8A41-24B2-3612-1095-7246614E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0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507E-1870-FA71-10E5-EE52A40F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7A8466-5A6E-B0E3-39BB-55A594AAD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86599-2137-0BE2-4373-17F7D556C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364A-BCE4-2A9B-494A-1F8A6AA3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D5858-C590-55F7-9AE0-775A0F81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0F420-D2A5-3120-4B3C-C8982D50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3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56C2-70B9-056D-7F60-A62F3DDD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71F43-AD7C-B3F2-37F0-2649D11B7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D08A0-4C29-21A2-2C52-50FA7B01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B5712-A3ED-417F-3F63-C495AF0E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BC00C-6AEB-487E-9F0D-9DF08435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5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B7278-EB40-0AC2-DA71-71AFED7A5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C390B-9E29-1CD4-2356-C4F1133A1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4C516-9532-6A07-330F-8A3A4551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7388A-838E-781F-9F73-A19E571CE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5E816-BCD9-2A79-7442-576DD5BD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8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92246C-102B-1FD6-9C6F-15D7443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90FD4-003E-A745-81FE-79290C412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54A75-7D33-3001-8993-0377CC547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96F90-2D68-4AB2-921B-D76D18D5B991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7D030-8C57-B8A6-DC79-C2EDA6207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21193-9502-F2B5-E88C-F2F997B84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4650C-F9BD-4E21-86A5-BE924032A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9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009CD-F6CD-05A7-20FE-6CEE1ED46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4F926F-FDA7-F0F2-6B08-680C838FC7CC}"/>
              </a:ext>
            </a:extLst>
          </p:cNvPr>
          <p:cNvSpPr/>
          <p:nvPr/>
        </p:nvSpPr>
        <p:spPr>
          <a:xfrm>
            <a:off x="145473" y="611605"/>
            <a:ext cx="11972636" cy="1632664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🆚 Before vs After MCP: From brittle API integrations to standardized schema-typed contracts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6EED8C-B719-DC06-A089-A67573AD6E25}"/>
              </a:ext>
            </a:extLst>
          </p:cNvPr>
          <p:cNvSpPr/>
          <p:nvPr/>
        </p:nvSpPr>
        <p:spPr>
          <a:xfrm>
            <a:off x="224444" y="782874"/>
            <a:ext cx="5724236" cy="1392683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🤷 Without MCP: Integration Chaos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EA8EC-E549-8341-DB04-66F281B46ECD}"/>
              </a:ext>
            </a:extLst>
          </p:cNvPr>
          <p:cNvSpPr/>
          <p:nvPr/>
        </p:nvSpPr>
        <p:spPr>
          <a:xfrm>
            <a:off x="6150263" y="782874"/>
            <a:ext cx="5896264" cy="1392683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🏆 With MCP: Standardized Contract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C1EF88-DF71-0718-877C-677725259EEF}"/>
              </a:ext>
            </a:extLst>
          </p:cNvPr>
          <p:cNvSpPr/>
          <p:nvPr/>
        </p:nvSpPr>
        <p:spPr>
          <a:xfrm>
            <a:off x="145473" y="2352038"/>
            <a:ext cx="11972636" cy="1076962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🎯 MCP Core Primitives -Three interoperable building blocks: Context, Actions, UX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728218-8CCD-006A-174D-B81CB96F1F14}"/>
              </a:ext>
            </a:extLst>
          </p:cNvPr>
          <p:cNvSpPr/>
          <p:nvPr/>
        </p:nvSpPr>
        <p:spPr>
          <a:xfrm>
            <a:off x="224444" y="2591396"/>
            <a:ext cx="3803996" cy="79835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/>
              <a:t>🗂️</a:t>
            </a:r>
            <a:r>
              <a:rPr lang="en-US" sz="1100" b="1" dirty="0">
                <a:solidFill>
                  <a:schemeClr val="tx1"/>
                </a:solidFill>
              </a:rPr>
              <a:t>Resources (Context Data)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Reusable, URI-based data endpoints (files, configs, schemas) the model can read.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Example: file://, git://, https:// resources with subscription + update notifications.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458285-9C5F-D2EE-275F-F571EF805676}"/>
              </a:ext>
            </a:extLst>
          </p:cNvPr>
          <p:cNvSpPr/>
          <p:nvPr/>
        </p:nvSpPr>
        <p:spPr>
          <a:xfrm>
            <a:off x="4119827" y="2591395"/>
            <a:ext cx="3805002" cy="79835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/>
              <a:t>⚙️</a:t>
            </a:r>
            <a:r>
              <a:rPr lang="en-US" sz="1100" b="1" dirty="0">
                <a:solidFill>
                  <a:schemeClr val="tx1"/>
                </a:solidFill>
              </a:rPr>
              <a:t>Tools (Actions)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Model-triggered functions with typed inputs &amp; outputs - validated and audited.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Example: </a:t>
            </a:r>
            <a:r>
              <a:rPr lang="en-US" sz="900" dirty="0" err="1">
                <a:solidFill>
                  <a:schemeClr val="tx1"/>
                </a:solidFill>
              </a:rPr>
              <a:t>get_weather</a:t>
            </a:r>
            <a:r>
              <a:rPr lang="en-US" sz="900" dirty="0">
                <a:solidFill>
                  <a:schemeClr val="tx1"/>
                </a:solidFill>
              </a:rPr>
              <a:t>(city="NYC") → temperature, humidity, condition.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27F06D-D1D0-A9F0-28B0-EEAEEAC98AF0}"/>
              </a:ext>
            </a:extLst>
          </p:cNvPr>
          <p:cNvSpPr/>
          <p:nvPr/>
        </p:nvSpPr>
        <p:spPr>
          <a:xfrm>
            <a:off x="8016215" y="2591394"/>
            <a:ext cx="4030312" cy="79835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/>
              <a:t>💬</a:t>
            </a:r>
            <a:r>
              <a:rPr lang="en-US" sz="1100" b="1" dirty="0">
                <a:solidFill>
                  <a:schemeClr val="tx1"/>
                </a:solidFill>
              </a:rPr>
              <a:t>Prompts &amp; Completions (Reusable UX)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Server-published prompt patterns and argument autocompletion for LLM UX.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Example: /</a:t>
            </a:r>
            <a:r>
              <a:rPr lang="en-US" sz="900" dirty="0" err="1">
                <a:solidFill>
                  <a:schemeClr val="tx1"/>
                </a:solidFill>
              </a:rPr>
              <a:t>code_review</a:t>
            </a:r>
            <a:r>
              <a:rPr lang="en-US" sz="900" dirty="0">
                <a:solidFill>
                  <a:schemeClr val="tx1"/>
                </a:solidFill>
              </a:rPr>
              <a:t> auto-fills language and framework fields as you type.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EDF0F4-F212-C5DC-DF3E-3A04BF75C613}"/>
              </a:ext>
            </a:extLst>
          </p:cNvPr>
          <p:cNvSpPr/>
          <p:nvPr/>
        </p:nvSpPr>
        <p:spPr>
          <a:xfrm>
            <a:off x="145473" y="3530600"/>
            <a:ext cx="11972636" cy="2214418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⚓ Spec Anchors: Capabilities &amp; Message Flow: Defines who declares, who calls, and how messages stay uniform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417CF4-DC55-3B74-D2A5-54D978E730D4}"/>
              </a:ext>
            </a:extLst>
          </p:cNvPr>
          <p:cNvSpPr/>
          <p:nvPr/>
        </p:nvSpPr>
        <p:spPr>
          <a:xfrm>
            <a:off x="211743" y="3981552"/>
            <a:ext cx="5736937" cy="168957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🌐 Server Declares Capabilities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A328B-AC56-D058-8F04-6E589C59DAC6}"/>
              </a:ext>
            </a:extLst>
          </p:cNvPr>
          <p:cNvSpPr/>
          <p:nvPr/>
        </p:nvSpPr>
        <p:spPr>
          <a:xfrm>
            <a:off x="6150263" y="3981552"/>
            <a:ext cx="5896264" cy="1689573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🤝 Client ↔ Model Message Patterns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247814-E3FC-5A64-CFBE-FEE487BF1421}"/>
              </a:ext>
            </a:extLst>
          </p:cNvPr>
          <p:cNvSpPr/>
          <p:nvPr/>
        </p:nvSpPr>
        <p:spPr>
          <a:xfrm>
            <a:off x="307999" y="3718227"/>
            <a:ext cx="3385470" cy="19402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Server → declares capabilities JSON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1F1663-FFFA-A9DA-4474-4F1EA099215F}"/>
              </a:ext>
            </a:extLst>
          </p:cNvPr>
          <p:cNvSpPr/>
          <p:nvPr/>
        </p:nvSpPr>
        <p:spPr>
          <a:xfrm>
            <a:off x="4515478" y="3718228"/>
            <a:ext cx="3161043" cy="19402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Client → reads &amp; interprets flags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D1C402-AE77-4E77-01E6-88A9FA8997CC}"/>
              </a:ext>
            </a:extLst>
          </p:cNvPr>
          <p:cNvSpPr/>
          <p:nvPr/>
        </p:nvSpPr>
        <p:spPr>
          <a:xfrm>
            <a:off x="8648391" y="3718228"/>
            <a:ext cx="3161043" cy="19402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Model → safely uses only declared ones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FFA764-9A58-FDEE-2306-3E66792DBBDA}"/>
              </a:ext>
            </a:extLst>
          </p:cNvPr>
          <p:cNvSpPr/>
          <p:nvPr/>
        </p:nvSpPr>
        <p:spPr>
          <a:xfrm>
            <a:off x="6192593" y="4200643"/>
            <a:ext cx="5566151" cy="210546"/>
          </a:xfrm>
          <a:prstGeom prst="roundRect">
            <a:avLst/>
          </a:prstGeom>
          <a:solidFill>
            <a:schemeClr val="bg1"/>
          </a:solidFill>
          <a:ln w="3175">
            <a:solidFill>
              <a:srgbClr val="00206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050" b="1" i="1" dirty="0">
                <a:solidFill>
                  <a:schemeClr val="tx1"/>
                </a:solidFill>
              </a:rPr>
              <a:t>Every MCP message just lists, reads, calls, or completes - one shape, no adapters.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547F18-2CBD-6B82-9E64-A4B87C79DB0F}"/>
              </a:ext>
            </a:extLst>
          </p:cNvPr>
          <p:cNvSpPr/>
          <p:nvPr/>
        </p:nvSpPr>
        <p:spPr>
          <a:xfrm>
            <a:off x="140112" y="5801116"/>
            <a:ext cx="11977997" cy="887091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💼 Enterprise-Grade Foundations: Governance, transport, and authentication to deploy MCP safely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01D00-2EF5-B6FA-0F25-0E1189AFEEEF}"/>
              </a:ext>
            </a:extLst>
          </p:cNvPr>
          <p:cNvSpPr/>
          <p:nvPr/>
        </p:nvSpPr>
        <p:spPr>
          <a:xfrm>
            <a:off x="266699" y="6045881"/>
            <a:ext cx="2772065" cy="47988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/>
              <a:t>🔒</a:t>
            </a:r>
            <a:r>
              <a:rPr lang="en-US" sz="1100" dirty="0">
                <a:solidFill>
                  <a:schemeClr val="tx1"/>
                </a:solidFill>
              </a:rPr>
              <a:t>Security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Servers MUST validate inputs, encode binary, check permissions.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E7C0B0-A8AD-A1ED-A60F-E85E1AD83643}"/>
              </a:ext>
            </a:extLst>
          </p:cNvPr>
          <p:cNvSpPr/>
          <p:nvPr/>
        </p:nvSpPr>
        <p:spPr>
          <a:xfrm>
            <a:off x="3271074" y="6043950"/>
            <a:ext cx="2772065" cy="47988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⚖️ Governance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Human-in-the-loop on sensitive calls, logging &amp; audit advised.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E836BC-EBD4-630C-42A3-17EBC0559303}"/>
              </a:ext>
            </a:extLst>
          </p:cNvPr>
          <p:cNvSpPr/>
          <p:nvPr/>
        </p:nvSpPr>
        <p:spPr>
          <a:xfrm>
            <a:off x="6275449" y="6040086"/>
            <a:ext cx="2772065" cy="47988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🚀 Transport</a:t>
            </a:r>
          </a:p>
          <a:p>
            <a:pPr algn="ctr"/>
            <a:r>
              <a:rPr lang="en-US" sz="1000" dirty="0" err="1">
                <a:solidFill>
                  <a:schemeClr val="tx1"/>
                </a:solidFill>
              </a:rPr>
              <a:t>Streamable</a:t>
            </a:r>
            <a:r>
              <a:rPr lang="en-US" sz="1000" dirty="0">
                <a:solidFill>
                  <a:schemeClr val="tx1"/>
                </a:solidFill>
              </a:rPr>
              <a:t> HTTP (stateful/stateless), SSE, JSON-RPC messaging.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D63572-5057-D0D6-2958-F31511A9FAA0}"/>
              </a:ext>
            </a:extLst>
          </p:cNvPr>
          <p:cNvSpPr/>
          <p:nvPr/>
        </p:nvSpPr>
        <p:spPr>
          <a:xfrm>
            <a:off x="9279823" y="6042018"/>
            <a:ext cx="2772065" cy="47988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/>
              <a:t>🔑</a:t>
            </a:r>
            <a:r>
              <a:rPr lang="en-US" sz="1100" dirty="0">
                <a:solidFill>
                  <a:schemeClr val="tx1"/>
                </a:solidFill>
              </a:rPr>
              <a:t>Auth (SDK)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OAuth2 RS support, token verification, RFC 9728 discovery.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1A70398-81BF-2313-439A-EFB8DB7D1B5C}"/>
              </a:ext>
            </a:extLst>
          </p:cNvPr>
          <p:cNvSpPr txBox="1">
            <a:spLocks/>
          </p:cNvSpPr>
          <p:nvPr/>
        </p:nvSpPr>
        <p:spPr>
          <a:xfrm>
            <a:off x="145473" y="97271"/>
            <a:ext cx="10515600" cy="318366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MCP: The Common Language Between Agents, Apps, and Data in Agentic Era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696E1-4F76-18CE-B60A-DCE1D42A9873}"/>
              </a:ext>
            </a:extLst>
          </p:cNvPr>
          <p:cNvSpPr txBox="1"/>
          <p:nvPr/>
        </p:nvSpPr>
        <p:spPr>
          <a:xfrm>
            <a:off x="248227" y="394791"/>
            <a:ext cx="8220364" cy="15388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000" b="1" i="1" dirty="0"/>
              <a:t>Standardizes how AI systems discover, read, and act - securely and predictably.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290C06-499B-BCD5-9821-62AB6C7ECEA6}"/>
              </a:ext>
            </a:extLst>
          </p:cNvPr>
          <p:cNvSpPr/>
          <p:nvPr/>
        </p:nvSpPr>
        <p:spPr>
          <a:xfrm>
            <a:off x="279400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Ad-hoc adapters everywhere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Every agent or app speaks its own dialect - no shared rules for loading or actions.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A33146-6F2C-9B09-493C-36F91AECFF10}"/>
              </a:ext>
            </a:extLst>
          </p:cNvPr>
          <p:cNvSpPr/>
          <p:nvPr/>
        </p:nvSpPr>
        <p:spPr>
          <a:xfrm>
            <a:off x="1417423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Unstructured, brittle I/O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Free-form JSON with no schema, one field rename can silently break downstream chains.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301471-DE80-1D46-4028-AAF5F8AF2894}"/>
              </a:ext>
            </a:extLst>
          </p:cNvPr>
          <p:cNvSpPr/>
          <p:nvPr/>
        </p:nvSpPr>
        <p:spPr>
          <a:xfrm>
            <a:off x="2555446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Context fragmentation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Files, configs, and APIs live everywhere - no discovery or subscription to changes.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D9F872-CBCA-5EE1-3CE3-2D54E576F375}"/>
              </a:ext>
            </a:extLst>
          </p:cNvPr>
          <p:cNvSpPr/>
          <p:nvPr/>
        </p:nvSpPr>
        <p:spPr>
          <a:xfrm>
            <a:off x="3693469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Action ambiguity</a:t>
            </a:r>
          </a:p>
          <a:p>
            <a:pPr algn="ctr"/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No standard way to describe callable functions or typed return structures.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8F9422-CD3D-D722-EF70-65B191335DA2}"/>
              </a:ext>
            </a:extLst>
          </p:cNvPr>
          <p:cNvSpPr/>
          <p:nvPr/>
        </p:nvSpPr>
        <p:spPr>
          <a:xfrm>
            <a:off x="4831490" y="979055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No lifecycle events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Clients can’t detect updates, pagination and change notifications are inconsistent.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7443D17-5478-85D3-89BF-709525777B3A}"/>
              </a:ext>
            </a:extLst>
          </p:cNvPr>
          <p:cNvSpPr/>
          <p:nvPr/>
        </p:nvSpPr>
        <p:spPr>
          <a:xfrm>
            <a:off x="6222487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Three primitives, one model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Resources, Tools, and Prompts - consistently discoverable, schema-defined, and </a:t>
            </a:r>
            <a:r>
              <a:rPr lang="en-US" sz="900" dirty="0" err="1">
                <a:solidFill>
                  <a:schemeClr val="tx1"/>
                </a:solidFill>
              </a:rPr>
              <a:t>versionable</a:t>
            </a:r>
            <a:r>
              <a:rPr lang="en-US" sz="9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D72C77D-0CF1-1F8C-2DB2-6E76DA555B92}"/>
              </a:ext>
            </a:extLst>
          </p:cNvPr>
          <p:cNvSpPr/>
          <p:nvPr/>
        </p:nvSpPr>
        <p:spPr>
          <a:xfrm>
            <a:off x="7360510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Typed schemas &amp; JSON-RPC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Structured I/O with </a:t>
            </a:r>
            <a:r>
              <a:rPr lang="en-US" sz="900" dirty="0" err="1">
                <a:solidFill>
                  <a:schemeClr val="tx1"/>
                </a:solidFill>
              </a:rPr>
              <a:t>inputSchema</a:t>
            </a:r>
            <a:r>
              <a:rPr lang="en-US" sz="900" dirty="0">
                <a:solidFill>
                  <a:schemeClr val="tx1"/>
                </a:solidFill>
              </a:rPr>
              <a:t>, </a:t>
            </a:r>
            <a:r>
              <a:rPr lang="en-US" sz="900" dirty="0" err="1">
                <a:solidFill>
                  <a:schemeClr val="tx1"/>
                </a:solidFill>
              </a:rPr>
              <a:t>outputSchema</a:t>
            </a:r>
            <a:r>
              <a:rPr lang="en-US" sz="900" dirty="0">
                <a:solidFill>
                  <a:schemeClr val="tx1"/>
                </a:solidFill>
              </a:rPr>
              <a:t>, and capability negotiation for safety.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9BC5107-A3EC-9EFB-6122-240937A843D1}"/>
              </a:ext>
            </a:extLst>
          </p:cNvPr>
          <p:cNvSpPr/>
          <p:nvPr/>
        </p:nvSpPr>
        <p:spPr>
          <a:xfrm>
            <a:off x="8498533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Resource graph + annotations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URI-addressed data with metadata: audience, priority, </a:t>
            </a:r>
            <a:r>
              <a:rPr lang="en-US" sz="900" dirty="0" err="1">
                <a:solidFill>
                  <a:schemeClr val="tx1"/>
                </a:solidFill>
              </a:rPr>
              <a:t>lastModified</a:t>
            </a:r>
            <a:r>
              <a:rPr lang="en-US" sz="900" dirty="0">
                <a:solidFill>
                  <a:schemeClr val="tx1"/>
                </a:solidFill>
              </a:rPr>
              <a:t>, and subscriptions.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4900D0-1437-ECF2-2E83-9FBABC4C2309}"/>
              </a:ext>
            </a:extLst>
          </p:cNvPr>
          <p:cNvSpPr/>
          <p:nvPr/>
        </p:nvSpPr>
        <p:spPr>
          <a:xfrm>
            <a:off x="9636556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Trustable tool calls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Defined via tools/list and tools/call, returns validated </a:t>
            </a:r>
            <a:r>
              <a:rPr lang="en-US" sz="900" dirty="0" err="1">
                <a:solidFill>
                  <a:schemeClr val="tx1"/>
                </a:solidFill>
              </a:rPr>
              <a:t>structuredContent</a:t>
            </a:r>
            <a:r>
              <a:rPr lang="en-US" sz="900" dirty="0">
                <a:solidFill>
                  <a:schemeClr val="tx1"/>
                </a:solidFill>
              </a:rPr>
              <a:t> or linked resources.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D56EAB3-CA93-5932-D034-6D50EF2BE78E}"/>
              </a:ext>
            </a:extLst>
          </p:cNvPr>
          <p:cNvSpPr/>
          <p:nvPr/>
        </p:nvSpPr>
        <p:spPr>
          <a:xfrm>
            <a:off x="10774577" y="976889"/>
            <a:ext cx="1064751" cy="11176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Events + pagination</a:t>
            </a:r>
          </a:p>
          <a:p>
            <a:pPr algn="ctr"/>
            <a:r>
              <a:rPr lang="en-US" sz="900" dirty="0" err="1">
                <a:solidFill>
                  <a:schemeClr val="tx1"/>
                </a:solidFill>
              </a:rPr>
              <a:t>nextCursor</a:t>
            </a:r>
            <a:r>
              <a:rPr lang="en-US" sz="900" dirty="0">
                <a:solidFill>
                  <a:schemeClr val="tx1"/>
                </a:solidFill>
              </a:rPr>
              <a:t> for paging, </a:t>
            </a:r>
            <a:r>
              <a:rPr lang="en-US" sz="900" dirty="0" err="1">
                <a:solidFill>
                  <a:schemeClr val="tx1"/>
                </a:solidFill>
              </a:rPr>
              <a:t>listChanged</a:t>
            </a:r>
            <a:r>
              <a:rPr lang="en-US" sz="900" dirty="0">
                <a:solidFill>
                  <a:schemeClr val="tx1"/>
                </a:solidFill>
              </a:rPr>
              <a:t> and updated events for real-time awareness.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A54B931-D7B2-E1D5-FBC8-B8F1D7EEEC46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3693469" y="3815238"/>
            <a:ext cx="82200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19F3001-8B12-5FC2-6341-B8D8C8C15684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7676521" y="3815239"/>
            <a:ext cx="97187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A950DC9-5820-B495-E016-249567477BFC}"/>
              </a:ext>
            </a:extLst>
          </p:cNvPr>
          <p:cNvSpPr/>
          <p:nvPr/>
        </p:nvSpPr>
        <p:spPr>
          <a:xfrm>
            <a:off x="279400" y="4192627"/>
            <a:ext cx="5566151" cy="210546"/>
          </a:xfrm>
          <a:prstGeom prst="roundRect">
            <a:avLst/>
          </a:prstGeom>
          <a:solidFill>
            <a:schemeClr val="bg1"/>
          </a:solidFill>
          <a:ln w="3175">
            <a:solidFill>
              <a:srgbClr val="00206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050" b="1" i="1" dirty="0">
                <a:solidFill>
                  <a:schemeClr val="tx1"/>
                </a:solidFill>
              </a:rPr>
              <a:t>Client reads these capabilities and limits requests to supported operations.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16DE364-3DD2-B473-932C-E58CC0FD4C1E}"/>
              </a:ext>
            </a:extLst>
          </p:cNvPr>
          <p:cNvSpPr/>
          <p:nvPr/>
        </p:nvSpPr>
        <p:spPr>
          <a:xfrm>
            <a:off x="6243497" y="4522703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📝 Context Data Operations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List or fetch context data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resources/list resources/read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4460FB1-7B68-2DF7-9061-42EC7D396060}"/>
              </a:ext>
            </a:extLst>
          </p:cNvPr>
          <p:cNvSpPr/>
          <p:nvPr/>
        </p:nvSpPr>
        <p:spPr>
          <a:xfrm>
            <a:off x="8236205" y="4522703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Action Operations</a:t>
            </a:r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Execute an action with typed I/O</a:t>
            </a: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tools/call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E947E39-77F4-6053-1DCD-A738B56C58A4}"/>
              </a:ext>
            </a:extLst>
          </p:cNvPr>
          <p:cNvSpPr/>
          <p:nvPr/>
        </p:nvSpPr>
        <p:spPr>
          <a:xfrm>
            <a:off x="10228912" y="4522703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🖥️ UX Operations</a:t>
            </a:r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Fetch context-aware suggestions (autofill UX)</a:t>
            </a: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completion/complete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70F12B8-09CB-7FAA-663D-7DA82AE7BBAA}"/>
              </a:ext>
            </a:extLst>
          </p:cNvPr>
          <p:cNvSpPr/>
          <p:nvPr/>
        </p:nvSpPr>
        <p:spPr>
          <a:xfrm>
            <a:off x="284120" y="4511218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🧩 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Primitives Supported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server advertises the three primitives it supports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"resources", "tools", "completions" 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A2DF967-5A4F-468C-024A-221D960A597C}"/>
              </a:ext>
            </a:extLst>
          </p:cNvPr>
          <p:cNvSpPr/>
          <p:nvPr/>
        </p:nvSpPr>
        <p:spPr>
          <a:xfrm>
            <a:off x="2221500" y="4511217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🗂️ 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Flags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Tells client if updates or pagination are available</a:t>
            </a: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"subscribe","</a:t>
            </a:r>
            <a:r>
              <a:rPr lang="en-US" sz="9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listChanged</a:t>
            </a:r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BE376B0-8524-F852-6C8A-D776A5478953}"/>
              </a:ext>
            </a:extLst>
          </p:cNvPr>
          <p:cNvSpPr/>
          <p:nvPr/>
        </p:nvSpPr>
        <p:spPr>
          <a:xfrm>
            <a:off x="4158881" y="4495284"/>
            <a:ext cx="1737360" cy="1107279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91440" rIns="0" bIns="91440" rtlCol="0" anchor="t" anchorCtr="0"/>
          <a:lstStyle/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Safeguards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Make discovery safe - client only calls what’s declared</a:t>
            </a:r>
          </a:p>
          <a:p>
            <a:pPr algn="ctr"/>
            <a:endParaRPr lang="en-US" sz="9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Feature flags 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447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4E79-9B94-C2DF-CA8A-C15E5D01C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73" y="24541"/>
            <a:ext cx="10515600" cy="318366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How MCP Works: The Protocol in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0DCAD4-A043-84EC-4784-07F98729FAD4}"/>
              </a:ext>
            </a:extLst>
          </p:cNvPr>
          <p:cNvSpPr/>
          <p:nvPr/>
        </p:nvSpPr>
        <p:spPr>
          <a:xfrm>
            <a:off x="412172" y="1018960"/>
            <a:ext cx="1371600" cy="73152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🌱 Initialization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illustrate how connection and negotiation bootstrap trust.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5BE9A9-01AD-500C-6C64-1B9F4FEACE8B}"/>
              </a:ext>
            </a:extLst>
          </p:cNvPr>
          <p:cNvSpPr/>
          <p:nvPr/>
        </p:nvSpPr>
        <p:spPr>
          <a:xfrm>
            <a:off x="412172" y="1885529"/>
            <a:ext cx="1371600" cy="100584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 💡 Discovery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Map everything the LLM can see</a:t>
            </a: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67D35-5CAD-6744-66D9-C8DF2050AFFB}"/>
              </a:ext>
            </a:extLst>
          </p:cNvPr>
          <p:cNvSpPr/>
          <p:nvPr/>
        </p:nvSpPr>
        <p:spPr>
          <a:xfrm>
            <a:off x="412172" y="3026418"/>
            <a:ext cx="1371600" cy="82296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📌 Context Access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Show reading structured context &amp; reusing prompts</a:t>
            </a:r>
          </a:p>
          <a:p>
            <a:pPr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0F1FFF-0326-BB22-764D-BA625FEEF68C}"/>
              </a:ext>
            </a:extLst>
          </p:cNvPr>
          <p:cNvSpPr/>
          <p:nvPr/>
        </p:nvSpPr>
        <p:spPr>
          <a:xfrm>
            <a:off x="412172" y="3984427"/>
            <a:ext cx="1371600" cy="82296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🎯 Action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The execution heart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9151B-ADE4-E86A-564C-6F3451BF05CE}"/>
              </a:ext>
            </a:extLst>
          </p:cNvPr>
          <p:cNvSpPr/>
          <p:nvPr/>
        </p:nvSpPr>
        <p:spPr>
          <a:xfrm>
            <a:off x="412173" y="4942436"/>
            <a:ext cx="1371600" cy="91440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🔔 Updates + Paging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How updates flow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9E1C7-53F3-ADBF-5517-AFD04FBACEEB}"/>
              </a:ext>
            </a:extLst>
          </p:cNvPr>
          <p:cNvSpPr/>
          <p:nvPr/>
        </p:nvSpPr>
        <p:spPr>
          <a:xfrm>
            <a:off x="412172" y="5991883"/>
            <a:ext cx="1371600" cy="640080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Safety &amp; Governance</a:t>
            </a:r>
          </a:p>
          <a:p>
            <a:pPr algn="ctr"/>
            <a:r>
              <a:rPr lang="en-US" sz="900" b="1" dirty="0">
                <a:solidFill>
                  <a:srgbClr val="00B0F0"/>
                </a:solidFill>
              </a:rPr>
              <a:t>Enforce production-grade control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CC39F-4690-4CDF-05AE-5672745A3DEA}"/>
              </a:ext>
            </a:extLst>
          </p:cNvPr>
          <p:cNvSpPr/>
          <p:nvPr/>
        </p:nvSpPr>
        <p:spPr>
          <a:xfrm>
            <a:off x="1885754" y="627463"/>
            <a:ext cx="1097280" cy="318366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🤖 LLM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5A087-5A08-7765-44BE-74C7D7591B6D}"/>
              </a:ext>
            </a:extLst>
          </p:cNvPr>
          <p:cNvSpPr/>
          <p:nvPr/>
        </p:nvSpPr>
        <p:spPr>
          <a:xfrm>
            <a:off x="3091290" y="627465"/>
            <a:ext cx="3291840" cy="318366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💻 MCP Client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77422A-B533-7304-4C35-E790A4240E83}"/>
              </a:ext>
            </a:extLst>
          </p:cNvPr>
          <p:cNvSpPr/>
          <p:nvPr/>
        </p:nvSpPr>
        <p:spPr>
          <a:xfrm>
            <a:off x="6483928" y="627465"/>
            <a:ext cx="4136738" cy="318366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🌐 MCP Server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21663C-8280-880E-3DBC-F6E123EA2505}"/>
              </a:ext>
            </a:extLst>
          </p:cNvPr>
          <p:cNvSpPr/>
          <p:nvPr/>
        </p:nvSpPr>
        <p:spPr>
          <a:xfrm>
            <a:off x="10748818" y="627465"/>
            <a:ext cx="1280160" cy="318366"/>
          </a:xfrm>
          <a:prstGeom prst="rect">
            <a:avLst/>
          </a:prstGeom>
          <a:solidFill>
            <a:srgbClr val="002060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🏢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Enterprise Systems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4A6DB-9CD3-5306-B7B3-7CECC037EDF0}"/>
              </a:ext>
            </a:extLst>
          </p:cNvPr>
          <p:cNvSpPr/>
          <p:nvPr/>
        </p:nvSpPr>
        <p:spPr>
          <a:xfrm>
            <a:off x="1893569" y="1019657"/>
            <a:ext cx="1097280" cy="73152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No direct network → uses only declared client ops.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A6D4D-D3DD-13A5-65C8-E103BBB18B65}"/>
              </a:ext>
            </a:extLst>
          </p:cNvPr>
          <p:cNvSpPr/>
          <p:nvPr/>
        </p:nvSpPr>
        <p:spPr>
          <a:xfrm>
            <a:off x="3100646" y="1020354"/>
            <a:ext cx="3291840" cy="73152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📡 </a:t>
            </a:r>
            <a:r>
              <a:rPr lang="en-US" sz="1000" b="1" dirty="0">
                <a:solidFill>
                  <a:schemeClr val="tx1"/>
                </a:solidFill>
              </a:rPr>
              <a:t>Initialize session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Initialize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b="1" dirty="0">
                <a:solidFill>
                  <a:schemeClr val="tx1"/>
                </a:solidFill>
              </a:rPr>
              <a:t>session</a:t>
            </a:r>
            <a:r>
              <a:rPr lang="en-US" sz="1000" dirty="0">
                <a:solidFill>
                  <a:schemeClr val="tx1"/>
                </a:solidFill>
              </a:rPr>
              <a:t> (JSON-RPC 2.0 over </a:t>
            </a:r>
            <a:r>
              <a:rPr lang="en-US" sz="1000" dirty="0" err="1">
                <a:solidFill>
                  <a:schemeClr val="tx1"/>
                </a:solidFill>
              </a:rPr>
              <a:t>stdio</a:t>
            </a:r>
            <a:r>
              <a:rPr lang="en-US" sz="1000" dirty="0">
                <a:solidFill>
                  <a:schemeClr val="tx1"/>
                </a:solidFill>
              </a:rPr>
              <a:t> / </a:t>
            </a:r>
            <a:r>
              <a:rPr lang="en-US" sz="1000" dirty="0" err="1">
                <a:solidFill>
                  <a:schemeClr val="tx1"/>
                </a:solidFill>
              </a:rPr>
              <a:t>Streamable</a:t>
            </a:r>
            <a:r>
              <a:rPr lang="en-US" sz="1000" dirty="0">
                <a:solidFill>
                  <a:schemeClr val="tx1"/>
                </a:solidFill>
              </a:rPr>
              <a:t> HTTP / SSE).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Receives </a:t>
            </a:r>
            <a:r>
              <a:rPr lang="en-US" sz="1000" b="1" dirty="0">
                <a:solidFill>
                  <a:schemeClr val="tx1"/>
                </a:solidFill>
              </a:rPr>
              <a:t>capabilities</a:t>
            </a:r>
            <a:r>
              <a:rPr lang="en-US" sz="1000" dirty="0">
                <a:solidFill>
                  <a:schemeClr val="tx1"/>
                </a:solidFill>
              </a:rPr>
              <a:t>, caches and enforces </a:t>
            </a:r>
            <a:r>
              <a:rPr lang="en-US" sz="1000" b="1" dirty="0">
                <a:solidFill>
                  <a:schemeClr val="tx1"/>
                </a:solidFill>
              </a:rPr>
              <a:t>“only declared ops.</a:t>
            </a:r>
            <a:r>
              <a:rPr lang="en-US" sz="10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604732-9CC1-4CF8-FA3D-F5C038FB6478}"/>
              </a:ext>
            </a:extLst>
          </p:cNvPr>
          <p:cNvSpPr/>
          <p:nvPr/>
        </p:nvSpPr>
        <p:spPr>
          <a:xfrm>
            <a:off x="6502283" y="1021749"/>
            <a:ext cx="4136738" cy="73152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🧭 </a:t>
            </a:r>
            <a:r>
              <a:rPr lang="en-US" sz="1000" b="1" dirty="0">
                <a:solidFill>
                  <a:schemeClr val="tx1"/>
                </a:solidFill>
              </a:rPr>
              <a:t>Declare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Declare capabilities (JSON-RPC </a:t>
            </a:r>
            <a:r>
              <a:rPr lang="en-US" sz="1000" dirty="0" err="1">
                <a:solidFill>
                  <a:schemeClr val="tx1"/>
                </a:solidFill>
                <a:cs typeface="Arial" panose="020B0604020202020204" pitchFamily="34" charset="0"/>
              </a:rPr>
              <a:t>init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 result).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Advertise: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tools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completions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 (and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prompts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if supported).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Feature flags: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subscribe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en-US" sz="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listChanged</a:t>
            </a:r>
            <a:r>
              <a:rPr lang="en-US" sz="1000" dirty="0">
                <a:solidFill>
                  <a:schemeClr val="tx1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055B1-F9B7-074C-3495-1400438D0525}"/>
              </a:ext>
            </a:extLst>
          </p:cNvPr>
          <p:cNvSpPr/>
          <p:nvPr/>
        </p:nvSpPr>
        <p:spPr>
          <a:xfrm>
            <a:off x="10748817" y="1021051"/>
            <a:ext cx="1280160" cy="73152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No calls yet-only session bring-up.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AAE9CB-95CA-4C5F-DB93-773F4FE2C91A}"/>
              </a:ext>
            </a:extLst>
          </p:cNvPr>
          <p:cNvSpPr/>
          <p:nvPr/>
        </p:nvSpPr>
        <p:spPr>
          <a:xfrm>
            <a:off x="1893569" y="1887605"/>
            <a:ext cx="1097280" cy="100584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Asks: what data/actions exist?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C22142-35CD-72D1-F425-61899599C3B4}"/>
              </a:ext>
            </a:extLst>
          </p:cNvPr>
          <p:cNvSpPr/>
          <p:nvPr/>
        </p:nvSpPr>
        <p:spPr>
          <a:xfrm>
            <a:off x="3100646" y="1886567"/>
            <a:ext cx="3291840" cy="100584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👀 Discover surfaces</a:t>
            </a:r>
          </a:p>
          <a:p>
            <a:r>
              <a:rPr lang="en-US" sz="1000" dirty="0">
                <a:solidFill>
                  <a:schemeClr val="tx1"/>
                </a:solidFill>
              </a:rPr>
              <a:t>Issues following requests to server and maintains discovery cache (with cursors)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tools/list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prompts/list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resources/templates/list</a:t>
            </a:r>
          </a:p>
          <a:p>
            <a:endParaRPr lang="en-US" sz="1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DF3C61-2FF8-80A0-58D3-8784A6FD6773}"/>
              </a:ext>
            </a:extLst>
          </p:cNvPr>
          <p:cNvSpPr/>
          <p:nvPr/>
        </p:nvSpPr>
        <p:spPr>
          <a:xfrm>
            <a:off x="6502283" y="1889680"/>
            <a:ext cx="4136738" cy="100584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↩️ Return catalogs</a:t>
            </a:r>
          </a:p>
          <a:p>
            <a:r>
              <a:rPr lang="en-US" sz="1000" dirty="0">
                <a:solidFill>
                  <a:schemeClr val="tx1"/>
                </a:solidFill>
              </a:rPr>
              <a:t>Return catalogs (arrays):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tx1"/>
                </a:solidFill>
              </a:rPr>
              <a:t>Resources</a:t>
            </a:r>
            <a:r>
              <a:rPr lang="en-US" sz="900" dirty="0">
                <a:solidFill>
                  <a:schemeClr val="tx1"/>
                </a:solidFill>
              </a:rPr>
              <a:t> (URI, name, annotations)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tx1"/>
                </a:solidFill>
              </a:rPr>
              <a:t>Tools</a:t>
            </a:r>
            <a:r>
              <a:rPr lang="en-US" sz="900" dirty="0">
                <a:solidFill>
                  <a:schemeClr val="tx1"/>
                </a:solidFill>
              </a:rPr>
              <a:t> (name, </a:t>
            </a:r>
            <a:r>
              <a:rPr lang="en-US" sz="900" dirty="0" err="1">
                <a:solidFill>
                  <a:schemeClr val="tx1"/>
                </a:solidFill>
              </a:rPr>
              <a:t>inputSchema</a:t>
            </a:r>
            <a:r>
              <a:rPr lang="en-US" sz="900" dirty="0">
                <a:solidFill>
                  <a:schemeClr val="tx1"/>
                </a:solidFill>
              </a:rPr>
              <a:t>, </a:t>
            </a:r>
            <a:r>
              <a:rPr lang="en-US" sz="900" dirty="0" err="1">
                <a:solidFill>
                  <a:schemeClr val="tx1"/>
                </a:solidFill>
              </a:rPr>
              <a:t>outputSchema</a:t>
            </a:r>
            <a:r>
              <a:rPr lang="en-US" sz="9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tx1"/>
                </a:solidFill>
              </a:rPr>
              <a:t>Resource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b="1" dirty="0">
                <a:solidFill>
                  <a:schemeClr val="tx1"/>
                </a:solidFill>
              </a:rPr>
              <a:t>templates</a:t>
            </a:r>
            <a:r>
              <a:rPr lang="en-US" sz="900" dirty="0">
                <a:solidFill>
                  <a:schemeClr val="tx1"/>
                </a:solidFill>
              </a:rPr>
              <a:t> (URI templates)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tx1"/>
                </a:solidFill>
              </a:rPr>
              <a:t>Prompts</a:t>
            </a:r>
          </a:p>
          <a:p>
            <a:r>
              <a:rPr lang="en-US" sz="1000" dirty="0">
                <a:solidFill>
                  <a:schemeClr val="tx1"/>
                </a:solidFill>
              </a:rPr>
              <a:t>If paginated → include </a:t>
            </a:r>
            <a:r>
              <a:rPr lang="en-US" sz="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nextCursor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D4FCC6-E9E0-7041-FD75-5DD06B7AEC94}"/>
              </a:ext>
            </a:extLst>
          </p:cNvPr>
          <p:cNvSpPr/>
          <p:nvPr/>
        </p:nvSpPr>
        <p:spPr>
          <a:xfrm>
            <a:off x="10748817" y="1888643"/>
            <a:ext cx="1280160" cy="100584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Maps resource URIs → internal stores (e.g.,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git://, file://, https://)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ED1AB5-A238-8A18-4B20-C8E95433FCC8}"/>
              </a:ext>
            </a:extLst>
          </p:cNvPr>
          <p:cNvSpPr/>
          <p:nvPr/>
        </p:nvSpPr>
        <p:spPr>
          <a:xfrm>
            <a:off x="1893569" y="3029174"/>
            <a:ext cx="109728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Requests content and prompt completions.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AFF7A2-8C0E-AE29-EC20-57993813A0FA}"/>
              </a:ext>
            </a:extLst>
          </p:cNvPr>
          <p:cNvSpPr/>
          <p:nvPr/>
        </p:nvSpPr>
        <p:spPr>
          <a:xfrm>
            <a:off x="3100646" y="3027796"/>
            <a:ext cx="329184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✨ Read + Compose</a:t>
            </a:r>
          </a:p>
          <a:p>
            <a:r>
              <a:rPr lang="en-US" sz="1000" dirty="0">
                <a:solidFill>
                  <a:schemeClr val="tx1"/>
                </a:solidFill>
              </a:rPr>
              <a:t>Read context get prompt messages, autocomplete </a:t>
            </a:r>
            <a:r>
              <a:rPr lang="en-US" sz="1000" dirty="0" err="1">
                <a:solidFill>
                  <a:schemeClr val="tx1"/>
                </a:solidFill>
              </a:rPr>
              <a:t>args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resources/read</a:t>
            </a:r>
            <a:r>
              <a:rPr lang="en-US" sz="1000" dirty="0">
                <a:solidFill>
                  <a:schemeClr val="tx1"/>
                </a:solidFill>
              </a:rPr>
              <a:t> → get context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prompts/get</a:t>
            </a:r>
            <a:r>
              <a:rPr lang="en-US" sz="1000" dirty="0">
                <a:solidFill>
                  <a:schemeClr val="tx1"/>
                </a:solidFill>
              </a:rPr>
              <a:t> → structured messages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completion/complete</a:t>
            </a:r>
            <a:r>
              <a:rPr lang="en-US" sz="1000" dirty="0">
                <a:solidFill>
                  <a:schemeClr val="tx1"/>
                </a:solidFill>
              </a:rPr>
              <a:t> → </a:t>
            </a:r>
            <a:r>
              <a:rPr lang="en-US" sz="1000" dirty="0" err="1">
                <a:solidFill>
                  <a:schemeClr val="tx1"/>
                </a:solidFill>
              </a:rPr>
              <a:t>arg</a:t>
            </a:r>
            <a:r>
              <a:rPr lang="en-US" sz="1000" dirty="0">
                <a:solidFill>
                  <a:schemeClr val="tx1"/>
                </a:solidFill>
              </a:rPr>
              <a:t> autocomplete</a:t>
            </a:r>
            <a:endParaRPr lang="en-US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E486F9-CE58-B80F-3B69-3AA0A10579EF}"/>
              </a:ext>
            </a:extLst>
          </p:cNvPr>
          <p:cNvSpPr/>
          <p:nvPr/>
        </p:nvSpPr>
        <p:spPr>
          <a:xfrm>
            <a:off x="6502283" y="3031931"/>
            <a:ext cx="4136738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📝 Typed content back</a:t>
            </a:r>
          </a:p>
          <a:p>
            <a:r>
              <a:rPr lang="en-US" sz="1000" dirty="0">
                <a:solidFill>
                  <a:schemeClr val="tx1"/>
                </a:solidFill>
              </a:rPr>
              <a:t>Responds with validated content blocks: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Text/Blob/Image content blocks (with </a:t>
            </a:r>
            <a:r>
              <a:rPr lang="en-US" sz="1000" dirty="0" err="1">
                <a:solidFill>
                  <a:schemeClr val="tx1"/>
                </a:solidFill>
              </a:rPr>
              <a:t>mimeType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Prompt messages, completion values (ranked)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URI templates (parameterized access)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FE9963-EB30-C1E9-7645-DD2454556CDF}"/>
              </a:ext>
            </a:extLst>
          </p:cNvPr>
          <p:cNvSpPr/>
          <p:nvPr/>
        </p:nvSpPr>
        <p:spPr>
          <a:xfrm>
            <a:off x="10748817" y="3030552"/>
            <a:ext cx="128016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Reads files, repos, or APIs → serializes into typed MCP content.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EBAF4C-484E-2089-C9CA-A328925E8AF2}"/>
              </a:ext>
            </a:extLst>
          </p:cNvPr>
          <p:cNvSpPr/>
          <p:nvPr/>
        </p:nvSpPr>
        <p:spPr>
          <a:xfrm>
            <a:off x="1893569" y="3988267"/>
            <a:ext cx="109728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Chooses tool based on advertised </a:t>
            </a:r>
            <a:r>
              <a:rPr lang="en-US" sz="1000" dirty="0" err="1">
                <a:solidFill>
                  <a:schemeClr val="tx1"/>
                </a:solidFill>
              </a:rPr>
              <a:t>inputSchema</a:t>
            </a:r>
            <a:r>
              <a:rPr lang="en-US" sz="1000" dirty="0">
                <a:solidFill>
                  <a:schemeClr val="tx1"/>
                </a:solidFill>
              </a:rPr>
              <a:t> / </a:t>
            </a:r>
            <a:r>
              <a:rPr lang="en-US" sz="1000" dirty="0" err="1">
                <a:solidFill>
                  <a:schemeClr val="tx1"/>
                </a:solidFill>
              </a:rPr>
              <a:t>outputSchema</a:t>
            </a:r>
            <a:r>
              <a:rPr lang="en-US" sz="10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E19B7B-7A7A-CD5E-1E02-DB993FEC4EC0}"/>
              </a:ext>
            </a:extLst>
          </p:cNvPr>
          <p:cNvSpPr/>
          <p:nvPr/>
        </p:nvSpPr>
        <p:spPr>
          <a:xfrm>
            <a:off x="3100646" y="3986347"/>
            <a:ext cx="329184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▶️ Execute tool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Invokes tools with validated </a:t>
            </a:r>
            <a:r>
              <a:rPr lang="en-US" sz="1000" b="1" dirty="0" err="1">
                <a:solidFill>
                  <a:schemeClr val="tx1"/>
                </a:solidFill>
              </a:rPr>
              <a:t>args</a:t>
            </a:r>
            <a:endParaRPr lang="en-US" sz="10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Sends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tools/call </a:t>
            </a:r>
            <a:r>
              <a:rPr lang="en-US" sz="1000" dirty="0">
                <a:solidFill>
                  <a:schemeClr val="tx1"/>
                </a:solidFill>
              </a:rPr>
              <a:t>with </a:t>
            </a:r>
            <a:r>
              <a:rPr lang="en-US" sz="1000" dirty="0" err="1">
                <a:solidFill>
                  <a:schemeClr val="tx1"/>
                </a:solidFill>
              </a:rPr>
              <a:t>args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validates via schema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handles HITL gating.</a:t>
            </a:r>
            <a:endParaRPr lang="en-US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6DC1AE-6089-8F6F-6D1F-62422132EF9E}"/>
              </a:ext>
            </a:extLst>
          </p:cNvPr>
          <p:cNvSpPr/>
          <p:nvPr/>
        </p:nvSpPr>
        <p:spPr>
          <a:xfrm>
            <a:off x="6502283" y="3990187"/>
            <a:ext cx="4136738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🚀 Validate &amp; Run</a:t>
            </a:r>
          </a:p>
          <a:p>
            <a:r>
              <a:rPr lang="en-US" sz="1000" dirty="0">
                <a:solidFill>
                  <a:schemeClr val="tx1"/>
                </a:solidFill>
              </a:rPr>
              <a:t>Validates inputs executes code or API → emits progress and returns</a:t>
            </a:r>
          </a:p>
          <a:p>
            <a:r>
              <a:rPr lang="en-US" sz="800" b="1" dirty="0">
                <a:solidFill>
                  <a:schemeClr val="tx1"/>
                </a:solidFill>
              </a:rPr>
              <a:t>• 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content[] (human-readable)</a:t>
            </a:r>
          </a:p>
          <a:p>
            <a:r>
              <a:rPr lang="en-US" sz="800" b="1" dirty="0">
                <a:solidFill>
                  <a:schemeClr val="tx1"/>
                </a:solidFill>
              </a:rPr>
              <a:t>• </a:t>
            </a:r>
            <a:r>
              <a:rPr lang="en-US" sz="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structuredContent</a:t>
            </a:r>
            <a:r>
              <a:rPr lang="en-US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 (machine-typed).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59DC20-1B5C-0040-63B8-7F44B9B4447A}"/>
              </a:ext>
            </a:extLst>
          </p:cNvPr>
          <p:cNvSpPr/>
          <p:nvPr/>
        </p:nvSpPr>
        <p:spPr>
          <a:xfrm>
            <a:off x="10748817" y="3992107"/>
            <a:ext cx="1280160" cy="82296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Real side effects - call weather API, DB, file writes.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AA09DD-61B5-F5F1-67B1-9DCEA7AF1E96}"/>
              </a:ext>
            </a:extLst>
          </p:cNvPr>
          <p:cNvSpPr/>
          <p:nvPr/>
        </p:nvSpPr>
        <p:spPr>
          <a:xfrm>
            <a:off x="1893570" y="4947556"/>
            <a:ext cx="1097280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Gets re-contextualized when client refreshes.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67724E-3D90-92A1-17A9-43DAAFAFF5DA}"/>
              </a:ext>
            </a:extLst>
          </p:cNvPr>
          <p:cNvSpPr/>
          <p:nvPr/>
        </p:nvSpPr>
        <p:spPr>
          <a:xfrm>
            <a:off x="3100647" y="4944996"/>
            <a:ext cx="3291840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🎧 Listen &amp; Follow-up</a:t>
            </a:r>
          </a:p>
          <a:p>
            <a:r>
              <a:rPr lang="en-US" sz="1000" dirty="0">
                <a:solidFill>
                  <a:schemeClr val="tx1"/>
                </a:solidFill>
              </a:rPr>
              <a:t>Listens for: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notifications/resources/</a:t>
            </a:r>
            <a:r>
              <a:rPr lang="en-US" sz="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list_changed</a:t>
            </a:r>
            <a:endParaRPr lang="en-US" sz="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notifications/resources/updated.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notifications/tools/</a:t>
            </a:r>
            <a:r>
              <a:rPr lang="en-US" sz="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list_changed</a:t>
            </a:r>
            <a:endParaRPr lang="en-US" sz="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Uses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sz="1000" dirty="0">
                <a:solidFill>
                  <a:schemeClr val="tx1"/>
                </a:solidFill>
              </a:rPr>
              <a:t> for pagination.</a:t>
            </a:r>
            <a:endParaRPr lang="en-US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337B92-43C4-8970-D18C-06F2CC80F1FF}"/>
              </a:ext>
            </a:extLst>
          </p:cNvPr>
          <p:cNvSpPr/>
          <p:nvPr/>
        </p:nvSpPr>
        <p:spPr>
          <a:xfrm>
            <a:off x="6502284" y="4950116"/>
            <a:ext cx="4136738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 📊 Emit changes</a:t>
            </a:r>
          </a:p>
          <a:p>
            <a:r>
              <a:rPr lang="en-US" sz="1000" dirty="0">
                <a:solidFill>
                  <a:schemeClr val="tx1"/>
                </a:solidFill>
              </a:rPr>
              <a:t>Emits updates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If </a:t>
            </a:r>
            <a:r>
              <a:rPr lang="en-US" sz="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listChanged</a:t>
            </a:r>
            <a:r>
              <a:rPr lang="en-US" sz="1000" dirty="0">
                <a:solidFill>
                  <a:schemeClr val="tx1"/>
                </a:solidFill>
              </a:rPr>
              <a:t>=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1000" dirty="0">
                <a:solidFill>
                  <a:schemeClr val="tx1"/>
                </a:solidFill>
              </a:rPr>
              <a:t> send list change notifications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If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subscribe</a:t>
            </a:r>
            <a:r>
              <a:rPr lang="en-US" sz="1000" dirty="0">
                <a:solidFill>
                  <a:schemeClr val="tx1"/>
                </a:solidFill>
              </a:rPr>
              <a:t>=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000" dirty="0">
                <a:solidFill>
                  <a:schemeClr val="tx1"/>
                </a:solidFill>
              </a:rPr>
              <a:t>, support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resources/subscribe</a:t>
            </a:r>
            <a:r>
              <a:rPr lang="en-US" sz="1000" dirty="0">
                <a:solidFill>
                  <a:schemeClr val="tx1"/>
                </a:solidFill>
              </a:rPr>
              <a:t> →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…/updated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D867DE-E242-5B7D-255B-0E7C89B71EA1}"/>
              </a:ext>
            </a:extLst>
          </p:cNvPr>
          <p:cNvSpPr/>
          <p:nvPr/>
        </p:nvSpPr>
        <p:spPr>
          <a:xfrm>
            <a:off x="10748817" y="4952676"/>
            <a:ext cx="1280160" cy="91440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Change sources (new commits/files/rows) trigger notifications.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D0D3A4A-2D62-845D-49A8-A11EAFC91825}"/>
              </a:ext>
            </a:extLst>
          </p:cNvPr>
          <p:cNvSpPr/>
          <p:nvPr/>
        </p:nvSpPr>
        <p:spPr>
          <a:xfrm>
            <a:off x="1893569" y="5998283"/>
            <a:ext cx="109728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No outbound calls, depends on client mediation.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E3E429-4C7E-C309-3323-1795CB368090}"/>
              </a:ext>
            </a:extLst>
          </p:cNvPr>
          <p:cNvSpPr/>
          <p:nvPr/>
        </p:nvSpPr>
        <p:spPr>
          <a:xfrm>
            <a:off x="3100646" y="5995083"/>
            <a:ext cx="329184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👨🏻‍💻 User safety &amp;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HITL prompts on sensitive 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Enforce only declared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handles JSON-RPC errors (-32601/02/03).</a:t>
            </a:r>
            <a:endParaRPr lang="en-US" sz="1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1E81DC-3DC5-81FF-3D58-74B5DEFC5BB5}"/>
              </a:ext>
            </a:extLst>
          </p:cNvPr>
          <p:cNvSpPr/>
          <p:nvPr/>
        </p:nvSpPr>
        <p:spPr>
          <a:xfrm>
            <a:off x="6502283" y="6001483"/>
            <a:ext cx="4136738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0" bIns="0" rtlCol="0" anchor="t" anchorCtr="0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🚧 Production guardrails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Performs Input validation, OAuth2 RS , Rate limiting , Binary encoding.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Transports: </a:t>
            </a:r>
            <a:r>
              <a:rPr lang="en-US" sz="1000" dirty="0" err="1">
                <a:solidFill>
                  <a:schemeClr val="tx1"/>
                </a:solidFill>
              </a:rPr>
              <a:t>stdio</a:t>
            </a:r>
            <a:r>
              <a:rPr lang="en-US" sz="1000" dirty="0">
                <a:solidFill>
                  <a:schemeClr val="tx1"/>
                </a:solidFill>
              </a:rPr>
              <a:t> (dev), </a:t>
            </a:r>
            <a:r>
              <a:rPr lang="en-US" sz="1000" dirty="0" err="1">
                <a:solidFill>
                  <a:schemeClr val="tx1"/>
                </a:solidFill>
              </a:rPr>
              <a:t>Streamable</a:t>
            </a:r>
            <a:r>
              <a:rPr lang="en-US" sz="1000" dirty="0">
                <a:solidFill>
                  <a:schemeClr val="tx1"/>
                </a:solidFill>
              </a:rPr>
              <a:t> HTTP (prod), SSE (legacy).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8072BF-98A3-3E5E-26B4-DC3FBEB238F5}"/>
              </a:ext>
            </a:extLst>
          </p:cNvPr>
          <p:cNvSpPr/>
          <p:nvPr/>
        </p:nvSpPr>
        <p:spPr>
          <a:xfrm>
            <a:off x="10748817" y="6004683"/>
            <a:ext cx="1280160" cy="6400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Logging + Audit + Policy enforcement (scopes, tenancy).</a:t>
            </a: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6BCE87BA-B9B2-357B-12EE-70FCC82AC939}"/>
              </a:ext>
            </a:extLst>
          </p:cNvPr>
          <p:cNvSpPr/>
          <p:nvPr/>
        </p:nvSpPr>
        <p:spPr>
          <a:xfrm>
            <a:off x="0" y="1018960"/>
            <a:ext cx="381000" cy="5613003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/>
              <a:t>Lifecycle Phases</a:t>
            </a:r>
          </a:p>
        </p:txBody>
      </p:sp>
      <p:sp>
        <p:nvSpPr>
          <p:cNvPr id="52" name="Arrow: Left-Right 51">
            <a:extLst>
              <a:ext uri="{FF2B5EF4-FFF2-40B4-BE49-F238E27FC236}">
                <a16:creationId xmlns:a16="http://schemas.microsoft.com/office/drawing/2014/main" id="{C1C4BD16-F40E-D8EF-4BCD-39A9303B0000}"/>
              </a:ext>
            </a:extLst>
          </p:cNvPr>
          <p:cNvSpPr/>
          <p:nvPr/>
        </p:nvSpPr>
        <p:spPr>
          <a:xfrm>
            <a:off x="1906153" y="213237"/>
            <a:ext cx="10128827" cy="382179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Message Path: LLM → Client → Server → Systems → back</a:t>
            </a:r>
          </a:p>
        </p:txBody>
      </p:sp>
    </p:spTree>
    <p:extLst>
      <p:ext uri="{BB962C8B-B14F-4D97-AF65-F5344CB8AC3E}">
        <p14:creationId xmlns:p14="http://schemas.microsoft.com/office/powerpoint/2010/main" val="203813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C0F9-EB5F-3920-DB63-B0E9B374A1CE}"/>
              </a:ext>
            </a:extLst>
          </p:cNvPr>
          <p:cNvSpPr txBox="1">
            <a:spLocks/>
          </p:cNvSpPr>
          <p:nvPr/>
        </p:nvSpPr>
        <p:spPr>
          <a:xfrm>
            <a:off x="145473" y="24541"/>
            <a:ext cx="10515600" cy="318366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MCP Rollout Roadmap: Enterprise Architecture for MCP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6D8EC4-6568-A543-46C5-B40A15FF59B1}"/>
              </a:ext>
            </a:extLst>
          </p:cNvPr>
          <p:cNvSpPr/>
          <p:nvPr/>
        </p:nvSpPr>
        <p:spPr>
          <a:xfrm>
            <a:off x="145473" y="336932"/>
            <a:ext cx="11981872" cy="93186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Control Plane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64C08-9B13-6151-1622-9D864E0FF352}"/>
              </a:ext>
            </a:extLst>
          </p:cNvPr>
          <p:cNvSpPr/>
          <p:nvPr/>
        </p:nvSpPr>
        <p:spPr>
          <a:xfrm>
            <a:off x="145473" y="1437490"/>
            <a:ext cx="11981872" cy="280714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Runtime Plane — Operational Flow of MCP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3A2AB2-AB86-4B87-2A77-9843A1E34D71}"/>
              </a:ext>
            </a:extLst>
          </p:cNvPr>
          <p:cNvSpPr/>
          <p:nvPr/>
        </p:nvSpPr>
        <p:spPr>
          <a:xfrm>
            <a:off x="145473" y="4404000"/>
            <a:ext cx="11981872" cy="84170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Platform Plane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5AA2D-529C-0DFD-516D-4BC438D92CF9}"/>
              </a:ext>
            </a:extLst>
          </p:cNvPr>
          <p:cNvSpPr/>
          <p:nvPr/>
        </p:nvSpPr>
        <p:spPr>
          <a:xfrm>
            <a:off x="221962" y="612013"/>
            <a:ext cx="2842491" cy="44757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Identity &amp; Access✅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OAuth-style tokens, scopes, issuer verification (OIDC/OAuth), per-server access control.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7BF5F9-EB89-1A3A-D97E-55E9CBB8F55E}"/>
              </a:ext>
            </a:extLst>
          </p:cNvPr>
          <p:cNvSpPr/>
          <p:nvPr/>
        </p:nvSpPr>
        <p:spPr>
          <a:xfrm>
            <a:off x="3217430" y="612015"/>
            <a:ext cx="2842491" cy="44757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Policy &amp; Registry</a:t>
            </a:r>
            <a:r>
              <a:rPr lang="en-US" sz="1100" dirty="0"/>
              <a:t>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Capability allow-list, catalog of resources, tools, prompts, schema &amp; prompt versioning.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F1F881-85CD-9AC6-7AEA-312CDBA5664F}"/>
              </a:ext>
            </a:extLst>
          </p:cNvPr>
          <p:cNvSpPr/>
          <p:nvPr/>
        </p:nvSpPr>
        <p:spPr>
          <a:xfrm>
            <a:off x="6212898" y="612014"/>
            <a:ext cx="2842491" cy="44757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Observability &amp; Audit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Tool call outcomes, progress logs, notifications, dashboards/SLOs, per-tenant audit.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CDDE61-2B7E-6CD0-991E-6478BBE04D37}"/>
              </a:ext>
            </a:extLst>
          </p:cNvPr>
          <p:cNvSpPr/>
          <p:nvPr/>
        </p:nvSpPr>
        <p:spPr>
          <a:xfrm>
            <a:off x="9208365" y="612015"/>
            <a:ext cx="2842491" cy="44757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Change Management</a:t>
            </a:r>
            <a:r>
              <a:rPr lang="en-US" sz="1100" dirty="0"/>
              <a:t>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Server versioning, broadcast list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Changed, deprecations &amp; rollout policy.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132396-9451-222A-B3AF-82A9872964BB}"/>
              </a:ext>
            </a:extLst>
          </p:cNvPr>
          <p:cNvSpPr/>
          <p:nvPr/>
        </p:nvSpPr>
        <p:spPr>
          <a:xfrm>
            <a:off x="293833" y="1703635"/>
            <a:ext cx="2651760" cy="228098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Consumers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B7C30F-CBD9-8B48-09C9-57626F8EA41B}"/>
              </a:ext>
            </a:extLst>
          </p:cNvPr>
          <p:cNvSpPr/>
          <p:nvPr/>
        </p:nvSpPr>
        <p:spPr>
          <a:xfrm>
            <a:off x="3289301" y="1703637"/>
            <a:ext cx="2651760" cy="228098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MCP Client Gateway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54BB40-5E41-5427-6871-3AC5C619B84F}"/>
              </a:ext>
            </a:extLst>
          </p:cNvPr>
          <p:cNvSpPr/>
          <p:nvPr/>
        </p:nvSpPr>
        <p:spPr>
          <a:xfrm>
            <a:off x="6284769" y="1703636"/>
            <a:ext cx="2651760" cy="228098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MCP Server Mesh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E22854-E26B-3042-6E39-CFA9144BD552}"/>
              </a:ext>
            </a:extLst>
          </p:cNvPr>
          <p:cNvSpPr/>
          <p:nvPr/>
        </p:nvSpPr>
        <p:spPr>
          <a:xfrm>
            <a:off x="9280236" y="1703637"/>
            <a:ext cx="2651760" cy="228098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Enterprise Systems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075584-FCD6-79E0-8A2D-9622B515CF8A}"/>
              </a:ext>
            </a:extLst>
          </p:cNvPr>
          <p:cNvSpPr/>
          <p:nvPr/>
        </p:nvSpPr>
        <p:spPr>
          <a:xfrm>
            <a:off x="334530" y="2119272"/>
            <a:ext cx="2547215" cy="7292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LLM Apps &amp; Agents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Chat UIs, IDE copilots, batch agents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Always go through the Client Gateway (never direct to servers)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B9816E-200A-42B2-F8B4-9BBEF3ABB948}"/>
              </a:ext>
            </a:extLst>
          </p:cNvPr>
          <p:cNvSpPr/>
          <p:nvPr/>
        </p:nvSpPr>
        <p:spPr>
          <a:xfrm>
            <a:off x="334529" y="3114697"/>
            <a:ext cx="2547215" cy="729280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Human-in-the-Loop Console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Approve risky 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See progress &amp; structured results, everything is auditable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44839F-55DF-2A86-2E47-06E8B555128C}"/>
              </a:ext>
            </a:extLst>
          </p:cNvPr>
          <p:cNvSpPr/>
          <p:nvPr/>
        </p:nvSpPr>
        <p:spPr>
          <a:xfrm>
            <a:off x="3361603" y="1906444"/>
            <a:ext cx="2547215" cy="46545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Capability Negotiation</a:t>
            </a:r>
            <a:r>
              <a:rPr lang="en-US" sz="1100" dirty="0"/>
              <a:t>🧩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On connect, read what the server supports (resources, tools, prompts/completions)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6C64C5-1B85-CDBA-0581-8B9452A9B787}"/>
              </a:ext>
            </a:extLst>
          </p:cNvPr>
          <p:cNvSpPr/>
          <p:nvPr/>
        </p:nvSpPr>
        <p:spPr>
          <a:xfrm>
            <a:off x="3361603" y="2436242"/>
            <a:ext cx="2547215" cy="45159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Schema Guard</a:t>
            </a:r>
            <a:r>
              <a:rPr lang="en-US" sz="1100" dirty="0"/>
              <a:t>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Validate inputs before calling a tool (input schema)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Validate typed results after (output schema)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8880F7-C64B-49DD-26DC-C13924BFF2B0}"/>
              </a:ext>
            </a:extLst>
          </p:cNvPr>
          <p:cNvSpPr/>
          <p:nvPr/>
        </p:nvSpPr>
        <p:spPr>
          <a:xfrm>
            <a:off x="3361603" y="2952181"/>
            <a:ext cx="2547215" cy="451596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Context &amp; Prompts</a:t>
            </a:r>
            <a:r>
              <a:rPr lang="en-US" sz="1100" dirty="0"/>
              <a:t>🧩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List/read resources, list/get prompts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Lightweight autocompletions for prompt arguments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329739-2E85-CD14-8E4D-2EDEECA9AAF7}"/>
              </a:ext>
            </a:extLst>
          </p:cNvPr>
          <p:cNvSpPr/>
          <p:nvPr/>
        </p:nvSpPr>
        <p:spPr>
          <a:xfrm>
            <a:off x="3361603" y="3468121"/>
            <a:ext cx="2547215" cy="45159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Actions &amp; Updates</a:t>
            </a:r>
            <a:r>
              <a:rPr lang="en-US" sz="1100" dirty="0"/>
              <a:t>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Call tools, show progress,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Handle “list changed” and “resource updated”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E8336E-33D1-7952-ED8D-2617CD326BB7}"/>
              </a:ext>
            </a:extLst>
          </p:cNvPr>
          <p:cNvSpPr/>
          <p:nvPr/>
        </p:nvSpPr>
        <p:spPr>
          <a:xfrm>
            <a:off x="6320127" y="1906444"/>
            <a:ext cx="2547215" cy="61907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Resources (read-only context)</a:t>
            </a:r>
            <a:r>
              <a:rPr lang="en-US" sz="1100" dirty="0"/>
              <a:t> 🧩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File/Repo Resource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Docs/Config Resource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Data View Resource Server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98D741-7DAA-C1BA-4381-66168D045C0B}"/>
              </a:ext>
            </a:extLst>
          </p:cNvPr>
          <p:cNvSpPr/>
          <p:nvPr/>
        </p:nvSpPr>
        <p:spPr>
          <a:xfrm>
            <a:off x="6320127" y="2612617"/>
            <a:ext cx="2547215" cy="600643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Tools (Actions)</a:t>
            </a:r>
            <a:r>
              <a:rPr lang="en-US" sz="1100" dirty="0"/>
              <a:t> 🧩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Business API Tool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Ops/Automation Tool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Advanced Tooling(structured o/p)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EFF936-11A8-B511-4978-6F7F42761503}"/>
              </a:ext>
            </a:extLst>
          </p:cNvPr>
          <p:cNvSpPr/>
          <p:nvPr/>
        </p:nvSpPr>
        <p:spPr>
          <a:xfrm>
            <a:off x="6320127" y="3300355"/>
            <a:ext cx="2547215" cy="600644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Prompts &amp; Completions (reusable UX)</a:t>
            </a:r>
            <a:r>
              <a:rPr lang="en-US" sz="1100" dirty="0"/>
              <a:t> ➕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Prompt Catalog Server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Completion Provider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72F75B-EA11-934D-6571-F9282E42F0E2}"/>
              </a:ext>
            </a:extLst>
          </p:cNvPr>
          <p:cNvSpPr/>
          <p:nvPr/>
        </p:nvSpPr>
        <p:spPr>
          <a:xfrm>
            <a:off x="9315595" y="1906444"/>
            <a:ext cx="2547215" cy="46545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APIs &amp; Services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CRM/ERP/Payments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18E777-57E9-D0B0-DA85-F756F4878D5B}"/>
              </a:ext>
            </a:extLst>
          </p:cNvPr>
          <p:cNvSpPr/>
          <p:nvPr/>
        </p:nvSpPr>
        <p:spPr>
          <a:xfrm>
            <a:off x="9315595" y="2436242"/>
            <a:ext cx="2547215" cy="45159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Data Stores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SQL/NoSQL/Warehouse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B08AB7-89A2-73F1-9E10-AB59A5BAD08B}"/>
              </a:ext>
            </a:extLst>
          </p:cNvPr>
          <p:cNvSpPr/>
          <p:nvPr/>
        </p:nvSpPr>
        <p:spPr>
          <a:xfrm>
            <a:off x="9315595" y="2952181"/>
            <a:ext cx="2547215" cy="451596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Code &amp; Content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Git/Docs/Object storage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17591F-728E-C45C-8DF7-9DFC815277AC}"/>
              </a:ext>
            </a:extLst>
          </p:cNvPr>
          <p:cNvSpPr/>
          <p:nvPr/>
        </p:nvSpPr>
        <p:spPr>
          <a:xfrm>
            <a:off x="9315595" y="3468121"/>
            <a:ext cx="2547215" cy="45159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Operations</a:t>
            </a:r>
            <a:r>
              <a:rPr lang="en-US" sz="1100" dirty="0"/>
              <a:t>✅</a:t>
            </a:r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Schedulers/Ticketing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53ECDA-9BCF-BC23-372F-F7E7F0E4E054}"/>
              </a:ext>
            </a:extLst>
          </p:cNvPr>
          <p:cNvSpPr/>
          <p:nvPr/>
        </p:nvSpPr>
        <p:spPr>
          <a:xfrm>
            <a:off x="217634" y="4644953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Transport ingress </a:t>
            </a:r>
            <a:r>
              <a:rPr lang="en-US" sz="900" dirty="0"/>
              <a:t>✅</a:t>
            </a:r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prefer </a:t>
            </a:r>
            <a:r>
              <a:rPr lang="en-US" sz="900" dirty="0" err="1">
                <a:solidFill>
                  <a:schemeClr val="tx1"/>
                </a:solidFill>
              </a:rPr>
              <a:t>Streamable</a:t>
            </a:r>
            <a:r>
              <a:rPr lang="en-US" sz="900" dirty="0">
                <a:solidFill>
                  <a:schemeClr val="tx1"/>
                </a:solidFill>
              </a:rPr>
              <a:t> HTTP, SSE optional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7371EE-5F31-038C-9475-0401C2ADC6D6}"/>
              </a:ext>
            </a:extLst>
          </p:cNvPr>
          <p:cNvSpPr/>
          <p:nvPr/>
        </p:nvSpPr>
        <p:spPr>
          <a:xfrm>
            <a:off x="2612954" y="4644953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API gateway</a:t>
            </a:r>
            <a:r>
              <a:rPr lang="en-US" sz="1100" dirty="0"/>
              <a:t>✅</a:t>
            </a:r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Routing to multiple MCP servers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9B53F6-DD04-08BF-8B52-634AACAC49A6}"/>
              </a:ext>
            </a:extLst>
          </p:cNvPr>
          <p:cNvSpPr/>
          <p:nvPr/>
        </p:nvSpPr>
        <p:spPr>
          <a:xfrm>
            <a:off x="5008274" y="4644954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Secrets/KMS </a:t>
            </a:r>
            <a:r>
              <a:rPr lang="en-US" sz="1100" dirty="0"/>
              <a:t>✅</a:t>
            </a:r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For server credentials and rotation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52B94-C14F-2DF4-3CB2-F7D57858693F}"/>
              </a:ext>
            </a:extLst>
          </p:cNvPr>
          <p:cNvSpPr/>
          <p:nvPr/>
        </p:nvSpPr>
        <p:spPr>
          <a:xfrm>
            <a:off x="7403594" y="4644952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Event bus (e.g., Kafka/NATS)</a:t>
            </a:r>
            <a:r>
              <a:rPr lang="en-US" sz="1100" dirty="0"/>
              <a:t>✅</a:t>
            </a:r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For change notifications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C6E6E4-D82E-6356-9121-DBA97AC677CC}"/>
              </a:ext>
            </a:extLst>
          </p:cNvPr>
          <p:cNvSpPr/>
          <p:nvPr/>
        </p:nvSpPr>
        <p:spPr>
          <a:xfrm>
            <a:off x="9798915" y="4644951"/>
            <a:ext cx="2247612" cy="39396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CI/CD &amp; contract tests</a:t>
            </a:r>
            <a:r>
              <a:rPr lang="en-US" sz="1100" dirty="0"/>
              <a:t>➕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schemas, invalid-param cases, perf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CDFEA1-9345-55B9-8161-8FBA02AF0371}"/>
              </a:ext>
            </a:extLst>
          </p:cNvPr>
          <p:cNvSpPr txBox="1"/>
          <p:nvPr/>
        </p:nvSpPr>
        <p:spPr>
          <a:xfrm>
            <a:off x="217633" y="1130299"/>
            <a:ext cx="319157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b="1" dirty="0"/>
              <a:t>Governance, policy, identity, and registry. Controls what and who.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8CC390-5253-855A-5D6F-017533990619}"/>
              </a:ext>
            </a:extLst>
          </p:cNvPr>
          <p:cNvSpPr txBox="1"/>
          <p:nvPr/>
        </p:nvSpPr>
        <p:spPr>
          <a:xfrm>
            <a:off x="217633" y="4040872"/>
            <a:ext cx="389048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b="1" dirty="0"/>
              <a:t>The active execution and data flow path. Handles how MCP operates day-to-day.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E83EDA-71FE-3A40-D0B9-2AF0C9D9793F}"/>
              </a:ext>
            </a:extLst>
          </p:cNvPr>
          <p:cNvSpPr txBox="1"/>
          <p:nvPr/>
        </p:nvSpPr>
        <p:spPr>
          <a:xfrm>
            <a:off x="217633" y="5084204"/>
            <a:ext cx="362599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b="1" dirty="0"/>
              <a:t>The infrastructure &amp; platform capabilities that support runtime operations.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F82059-A2B9-60EA-7C31-7EC462F83665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945593" y="2844129"/>
            <a:ext cx="343708" cy="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771E0B-AF34-EF08-F1C8-0926F6DB33CE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941061" y="2844130"/>
            <a:ext cx="343708" cy="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1327C45-AAAD-3852-C496-5570722F9A18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8936529" y="2844130"/>
            <a:ext cx="343707" cy="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DEFBFB65-2DFF-8663-1FC3-E7F152B3901E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rot="5400000">
            <a:off x="5158376" y="725603"/>
            <a:ext cx="434839" cy="1521228"/>
          </a:xfrm>
          <a:prstGeom prst="bentConnector3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960B4E1-ECF5-B3CD-EDA6-ADCAD396CC66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rot="16200000" flipH="1">
            <a:off x="6656110" y="749097"/>
            <a:ext cx="434838" cy="1474240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281DC4F-68BC-B3DE-7BDF-D8F13082BDF6}"/>
              </a:ext>
            </a:extLst>
          </p:cNvPr>
          <p:cNvSpPr txBox="1"/>
          <p:nvPr/>
        </p:nvSpPr>
        <p:spPr>
          <a:xfrm>
            <a:off x="6212898" y="1281144"/>
            <a:ext cx="98584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dirty="0"/>
              <a:t>auth, policy, registry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80D9B24-6E9E-0B43-B584-4150338A7032}"/>
              </a:ext>
            </a:extLst>
          </p:cNvPr>
          <p:cNvCxnSpPr>
            <a:cxnSpLocks/>
            <a:stCxn id="5" idx="0"/>
            <a:endCxn id="12" idx="2"/>
          </p:cNvCxnSpPr>
          <p:nvPr/>
        </p:nvCxnSpPr>
        <p:spPr>
          <a:xfrm rot="16200000" flipV="1">
            <a:off x="5166107" y="3433698"/>
            <a:ext cx="419376" cy="1521228"/>
          </a:xfrm>
          <a:prstGeom prst="bentConnector3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EEDDAD5-42AD-E8B7-2CC5-E945B75F771D}"/>
              </a:ext>
            </a:extLst>
          </p:cNvPr>
          <p:cNvCxnSpPr>
            <a:cxnSpLocks/>
            <a:stCxn id="5" idx="0"/>
            <a:endCxn id="13" idx="2"/>
          </p:cNvCxnSpPr>
          <p:nvPr/>
        </p:nvCxnSpPr>
        <p:spPr>
          <a:xfrm rot="5400000" flipH="1" flipV="1">
            <a:off x="6663841" y="3457192"/>
            <a:ext cx="419377" cy="1474240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B11DBD4-D10A-8CE5-64FA-5686A3439980}"/>
              </a:ext>
            </a:extLst>
          </p:cNvPr>
          <p:cNvSpPr txBox="1"/>
          <p:nvPr/>
        </p:nvSpPr>
        <p:spPr>
          <a:xfrm>
            <a:off x="6212898" y="4274832"/>
            <a:ext cx="14715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00" dirty="0"/>
              <a:t>transport, secrets, events, tests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396B57D-E34F-0837-5F7C-55812ED29483}"/>
              </a:ext>
            </a:extLst>
          </p:cNvPr>
          <p:cNvSpPr/>
          <p:nvPr/>
        </p:nvSpPr>
        <p:spPr>
          <a:xfrm>
            <a:off x="145473" y="5772027"/>
            <a:ext cx="11981872" cy="93186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MCP Implementation Maturity Phases</a:t>
            </a:r>
          </a:p>
        </p:txBody>
      </p:sp>
      <p:sp>
        <p:nvSpPr>
          <p:cNvPr id="63" name="Arrow: Pentagon 62">
            <a:extLst>
              <a:ext uri="{FF2B5EF4-FFF2-40B4-BE49-F238E27FC236}">
                <a16:creationId xmlns:a16="http://schemas.microsoft.com/office/drawing/2014/main" id="{2F2D267B-EB18-ECA4-4281-DED1E3EDEF79}"/>
              </a:ext>
            </a:extLst>
          </p:cNvPr>
          <p:cNvSpPr/>
          <p:nvPr/>
        </p:nvSpPr>
        <p:spPr>
          <a:xfrm>
            <a:off x="221962" y="5991122"/>
            <a:ext cx="2842491" cy="604592"/>
          </a:xfrm>
          <a:prstGeom prst="homePlate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Phase-1: Resources first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Ship 3-5 priority data sources as read-only resources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Paging &amp; change notifications working end-to-end</a:t>
            </a:r>
          </a:p>
        </p:txBody>
      </p:sp>
      <p:sp>
        <p:nvSpPr>
          <p:cNvPr id="64" name="Arrow: Pentagon 63">
            <a:extLst>
              <a:ext uri="{FF2B5EF4-FFF2-40B4-BE49-F238E27FC236}">
                <a16:creationId xmlns:a16="http://schemas.microsoft.com/office/drawing/2014/main" id="{DA5C8C4D-6091-8160-F506-F100FDDB7BBF}"/>
              </a:ext>
            </a:extLst>
          </p:cNvPr>
          <p:cNvSpPr/>
          <p:nvPr/>
        </p:nvSpPr>
        <p:spPr>
          <a:xfrm>
            <a:off x="3217430" y="5991124"/>
            <a:ext cx="2842491" cy="604592"/>
          </a:xfrm>
          <a:prstGeom prst="homePlate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Phase2 - Tools next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Add 2-3 high-value actions with input/output schemas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Human approval for risky calls, errors &amp; progress are visible</a:t>
            </a:r>
          </a:p>
        </p:txBody>
      </p:sp>
      <p:sp>
        <p:nvSpPr>
          <p:cNvPr id="65" name="Arrow: Pentagon 64">
            <a:extLst>
              <a:ext uri="{FF2B5EF4-FFF2-40B4-BE49-F238E27FC236}">
                <a16:creationId xmlns:a16="http://schemas.microsoft.com/office/drawing/2014/main" id="{366CDDA0-B8AC-1082-080A-58B8B818E005}"/>
              </a:ext>
            </a:extLst>
          </p:cNvPr>
          <p:cNvSpPr/>
          <p:nvPr/>
        </p:nvSpPr>
        <p:spPr>
          <a:xfrm>
            <a:off x="6212898" y="5991123"/>
            <a:ext cx="2842491" cy="604592"/>
          </a:xfrm>
          <a:prstGeom prst="homePlate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Phase3 - Prompts &amp; Completions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Central prompt catalog, context-aware argument fills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Fewer manual inputs in day-to-day usage</a:t>
            </a:r>
          </a:p>
        </p:txBody>
      </p:sp>
      <p:sp>
        <p:nvSpPr>
          <p:cNvPr id="66" name="Arrow: Pentagon 65">
            <a:extLst>
              <a:ext uri="{FF2B5EF4-FFF2-40B4-BE49-F238E27FC236}">
                <a16:creationId xmlns:a16="http://schemas.microsoft.com/office/drawing/2014/main" id="{09249910-EF69-4F15-6653-276B70C230D2}"/>
              </a:ext>
            </a:extLst>
          </p:cNvPr>
          <p:cNvSpPr/>
          <p:nvPr/>
        </p:nvSpPr>
        <p:spPr>
          <a:xfrm>
            <a:off x="9208365" y="5991124"/>
            <a:ext cx="2842491" cy="604592"/>
          </a:xfrm>
          <a:prstGeom prst="homePlate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Phase4 - Secure • Govern • Observe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Scopes/tenancy, policy allow-list, rate limits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Dashboards, audits, SLOs, server versioning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2F3575E-7E43-5215-B981-AD9754322A7A}"/>
              </a:ext>
            </a:extLst>
          </p:cNvPr>
          <p:cNvSpPr txBox="1"/>
          <p:nvPr/>
        </p:nvSpPr>
        <p:spPr>
          <a:xfrm>
            <a:off x="145473" y="5351260"/>
            <a:ext cx="531235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1" dirty="0"/>
              <a:t>✅ Reused:  As-is from existing Agentic AI Architecture</a:t>
            </a:r>
          </a:p>
          <a:p>
            <a:r>
              <a:rPr lang="en-US" sz="900" b="1" dirty="0"/>
              <a:t>➕ Extended: Requires addition of a small MCP feature/config) in existing Agentic AI Architecture </a:t>
            </a:r>
          </a:p>
          <a:p>
            <a:r>
              <a:rPr lang="en-US" sz="900" b="1" dirty="0"/>
              <a:t>🧩 Wrap: Requires thin MCP facade over what you already have in existing Agentic AI Architecture </a:t>
            </a:r>
          </a:p>
        </p:txBody>
      </p:sp>
    </p:spTree>
    <p:extLst>
      <p:ext uri="{BB962C8B-B14F-4D97-AF65-F5344CB8AC3E}">
        <p14:creationId xmlns:p14="http://schemas.microsoft.com/office/powerpoint/2010/main" val="209098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471D-8D3A-B7B8-089D-C2DEC2A2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6766F4B5-26BF-6201-85E4-969A1934DAC8}"/>
              </a:ext>
            </a:extLst>
          </p:cNvPr>
          <p:cNvSpPr/>
          <p:nvPr/>
        </p:nvSpPr>
        <p:spPr>
          <a:xfrm>
            <a:off x="209166" y="652462"/>
            <a:ext cx="5455034" cy="479630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/>
          <a:lstStyle/>
          <a:p>
            <a:pPr algn="r"/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396C5-0C14-1D73-3D0D-2C4FA1633E0D}"/>
              </a:ext>
            </a:extLst>
          </p:cNvPr>
          <p:cNvSpPr txBox="1">
            <a:spLocks/>
          </p:cNvSpPr>
          <p:nvPr/>
        </p:nvSpPr>
        <p:spPr>
          <a:xfrm>
            <a:off x="145473" y="24541"/>
            <a:ext cx="10515600" cy="318366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MCP Rollout Roadmap: Enterprise Architecture for MCP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C8DD56-77D5-2C07-FCCD-C2C7A3796B4D}"/>
              </a:ext>
            </a:extLst>
          </p:cNvPr>
          <p:cNvSpPr/>
          <p:nvPr/>
        </p:nvSpPr>
        <p:spPr>
          <a:xfrm>
            <a:off x="1052444" y="1224479"/>
            <a:ext cx="3657600" cy="3495698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/>
          <a:lstStyle/>
          <a:p>
            <a:pPr algn="r"/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24A08F-5B02-2A48-345D-E8746BD3F7EB}"/>
              </a:ext>
            </a:extLst>
          </p:cNvPr>
          <p:cNvSpPr/>
          <p:nvPr/>
        </p:nvSpPr>
        <p:spPr>
          <a:xfrm>
            <a:off x="1561302" y="1622977"/>
            <a:ext cx="2651760" cy="2651760"/>
          </a:xfrm>
          <a:prstGeom prst="ellipse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/>
          <a:lstStyle/>
          <a:p>
            <a:pPr algn="ctr"/>
            <a:r>
              <a:rPr lang="en-US" sz="1200" b="1" dirty="0">
                <a:solidFill>
                  <a:srgbClr val="92D050"/>
                </a:solidFill>
              </a:rPr>
              <a:t>MCP Core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A76F31-0410-10F4-AA63-3CA2154C8709}"/>
              </a:ext>
            </a:extLst>
          </p:cNvPr>
          <p:cNvSpPr txBox="1"/>
          <p:nvPr/>
        </p:nvSpPr>
        <p:spPr>
          <a:xfrm rot="19268406">
            <a:off x="1725817" y="1985439"/>
            <a:ext cx="1155987" cy="424913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2434339"/>
              </a:avLst>
            </a:prstTxWarp>
            <a:spAutoFit/>
          </a:bodyPr>
          <a:lstStyle/>
          <a:p>
            <a:r>
              <a:rPr lang="en-US" sz="1000" b="1" dirty="0">
                <a:solidFill>
                  <a:srgbClr val="002060"/>
                </a:solidFill>
              </a:rPr>
              <a:t>MCP Client Gateway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4AC409-71C1-E952-9187-0D6F822DBAEA}"/>
              </a:ext>
            </a:extLst>
          </p:cNvPr>
          <p:cNvSpPr txBox="1"/>
          <p:nvPr/>
        </p:nvSpPr>
        <p:spPr>
          <a:xfrm>
            <a:off x="2047430" y="2153741"/>
            <a:ext cx="80733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/>
              <a:t>Single front door for all agent traffic. Enforces “only what we publish is callable”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0EE4B5-2B68-0868-21D4-F40D1C556D49}"/>
              </a:ext>
            </a:extLst>
          </p:cNvPr>
          <p:cNvSpPr txBox="1"/>
          <p:nvPr/>
        </p:nvSpPr>
        <p:spPr>
          <a:xfrm>
            <a:off x="2092386" y="4499181"/>
            <a:ext cx="170683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92D050"/>
                </a:solidFill>
              </a:rPr>
              <a:t>Control Plane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6CA792-CFD2-9503-1FA4-6DF7CFAA0A99}"/>
              </a:ext>
            </a:extLst>
          </p:cNvPr>
          <p:cNvSpPr txBox="1"/>
          <p:nvPr/>
        </p:nvSpPr>
        <p:spPr>
          <a:xfrm rot="2907611">
            <a:off x="3082868" y="2107097"/>
            <a:ext cx="1117342" cy="399984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2230443"/>
              </a:avLst>
            </a:prstTxWarp>
            <a:spAutoFit/>
          </a:bodyPr>
          <a:lstStyle/>
          <a:p>
            <a:r>
              <a:rPr lang="en-US" sz="1000" b="1" dirty="0">
                <a:solidFill>
                  <a:srgbClr val="002060"/>
                </a:solidFill>
              </a:rPr>
              <a:t>Contracts Schemas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77C007-10C3-FF0A-E34C-E61CE6147008}"/>
              </a:ext>
            </a:extLst>
          </p:cNvPr>
          <p:cNvSpPr txBox="1"/>
          <p:nvPr/>
        </p:nvSpPr>
        <p:spPr>
          <a:xfrm>
            <a:off x="2319385" y="3713064"/>
            <a:ext cx="1155987" cy="424913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1603367"/>
              </a:avLst>
            </a:prstTxWarp>
            <a:spAutoFit/>
          </a:bodyPr>
          <a:lstStyle/>
          <a:p>
            <a:r>
              <a:rPr lang="en-US" sz="1000" b="1" dirty="0">
                <a:solidFill>
                  <a:srgbClr val="002060"/>
                </a:solidFill>
              </a:rPr>
              <a:t>MCP Server Mesh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F65874-7C7C-4A6A-A131-F4C790E17232}"/>
              </a:ext>
            </a:extLst>
          </p:cNvPr>
          <p:cNvSpPr txBox="1"/>
          <p:nvPr/>
        </p:nvSpPr>
        <p:spPr>
          <a:xfrm>
            <a:off x="2928017" y="2153741"/>
            <a:ext cx="80733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/>
              <a:t>Shared directory of callable things and their shapes. Reduces </a:t>
            </a:r>
          </a:p>
          <a:p>
            <a:pPr algn="ctr"/>
            <a:r>
              <a:rPr lang="en-US" sz="800" dirty="0"/>
              <a:t>ambiguity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B66E0E3-EFC1-F4D8-3998-F97538788B1D}"/>
              </a:ext>
            </a:extLst>
          </p:cNvPr>
          <p:cNvSpPr txBox="1"/>
          <p:nvPr/>
        </p:nvSpPr>
        <p:spPr>
          <a:xfrm>
            <a:off x="2487724" y="3242465"/>
            <a:ext cx="807331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/>
              <a:t>Thin servers in front of our systems that make data readable (Resources) and actions callable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E3ECB6C-0BFB-0893-1FB3-0641CF390B10}"/>
              </a:ext>
            </a:extLst>
          </p:cNvPr>
          <p:cNvCxnSpPr>
            <a:cxnSpLocks/>
            <a:stCxn id="10" idx="0"/>
          </p:cNvCxnSpPr>
          <p:nvPr/>
        </p:nvCxnSpPr>
        <p:spPr>
          <a:xfrm>
            <a:off x="2887182" y="1622977"/>
            <a:ext cx="0" cy="1399399"/>
          </a:xfrm>
          <a:prstGeom prst="line">
            <a:avLst/>
          </a:prstGeom>
          <a:ln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FDC6256-E6D5-3B4D-3551-28849F7238B8}"/>
              </a:ext>
            </a:extLst>
          </p:cNvPr>
          <p:cNvCxnSpPr>
            <a:cxnSpLocks/>
          </p:cNvCxnSpPr>
          <p:nvPr/>
        </p:nvCxnSpPr>
        <p:spPr>
          <a:xfrm flipV="1">
            <a:off x="1781304" y="3022376"/>
            <a:ext cx="1105877" cy="675164"/>
          </a:xfrm>
          <a:prstGeom prst="line">
            <a:avLst/>
          </a:prstGeom>
          <a:ln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D8AAD17-9C96-DD74-80E9-5934D4C74E5F}"/>
              </a:ext>
            </a:extLst>
          </p:cNvPr>
          <p:cNvCxnSpPr>
            <a:cxnSpLocks/>
          </p:cNvCxnSpPr>
          <p:nvPr/>
        </p:nvCxnSpPr>
        <p:spPr>
          <a:xfrm>
            <a:off x="2887182" y="3022376"/>
            <a:ext cx="1126271" cy="690688"/>
          </a:xfrm>
          <a:prstGeom prst="line">
            <a:avLst/>
          </a:prstGeom>
          <a:ln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C3128B8-A799-0EAF-6640-E9665BF71034}"/>
              </a:ext>
            </a:extLst>
          </p:cNvPr>
          <p:cNvSpPr txBox="1"/>
          <p:nvPr/>
        </p:nvSpPr>
        <p:spPr>
          <a:xfrm>
            <a:off x="1232995" y="1265447"/>
            <a:ext cx="109728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US" sz="1000" b="1" dirty="0">
                <a:solidFill>
                  <a:srgbClr val="00B0F0"/>
                </a:solidFill>
                <a:latin typeface="Calibri" panose="020F0502020204030204"/>
              </a:rPr>
              <a:t>Identity &amp; Access</a:t>
            </a:r>
          </a:p>
          <a:p>
            <a:r>
              <a:rPr lang="en-US" sz="800" dirty="0"/>
              <a:t>Keep SSO; align access to roles/tenants for MCP calls. least-privilege by design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5DF9F0A-52FA-3A8B-DB7A-D5E48E38729E}"/>
              </a:ext>
            </a:extLst>
          </p:cNvPr>
          <p:cNvSpPr txBox="1"/>
          <p:nvPr/>
        </p:nvSpPr>
        <p:spPr>
          <a:xfrm>
            <a:off x="3456691" y="1261810"/>
            <a:ext cx="1097280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r>
              <a:rPr lang="en-US" sz="1000" b="1" dirty="0">
                <a:solidFill>
                  <a:srgbClr val="00B0F0"/>
                </a:solidFill>
                <a:latin typeface="Calibri" panose="020F0502020204030204"/>
              </a:rPr>
              <a:t>Policy &amp; Registry</a:t>
            </a:r>
          </a:p>
          <a:p>
            <a:pPr algn="r"/>
            <a:r>
              <a:rPr lang="en-US" sz="800" dirty="0"/>
              <a:t>Source-of-truth for “what agents may read/call,” with versions. Prevents shadow integrations; simplifies audits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8CAF0DF-A4A0-C1A3-20A6-906BA01A0FF2}"/>
              </a:ext>
            </a:extLst>
          </p:cNvPr>
          <p:cNvSpPr txBox="1"/>
          <p:nvPr/>
        </p:nvSpPr>
        <p:spPr>
          <a:xfrm>
            <a:off x="1262591" y="3875986"/>
            <a:ext cx="109728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Single front door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for all agent traffic. Enforces “only what we publish is callable”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Observability &amp; Audit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63B21F-DD8E-FEFF-AFFA-7087D43234D5}"/>
              </a:ext>
            </a:extLst>
          </p:cNvPr>
          <p:cNvSpPr txBox="1"/>
          <p:nvPr/>
        </p:nvSpPr>
        <p:spPr>
          <a:xfrm>
            <a:off x="3463330" y="3857449"/>
            <a:ext cx="109728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dirty="0"/>
              <a:t>             Single front door for all agent traffic. Enforces “only what we publish is callable”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Management</a:t>
            </a:r>
          </a:p>
          <a:p>
            <a:pPr algn="r"/>
            <a:endParaRPr lang="en-US" sz="8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4150891-1CE2-29BD-771A-9601FB1FA9C1}"/>
              </a:ext>
            </a:extLst>
          </p:cNvPr>
          <p:cNvSpPr txBox="1"/>
          <p:nvPr/>
        </p:nvSpPr>
        <p:spPr>
          <a:xfrm>
            <a:off x="2001345" y="5241411"/>
            <a:ext cx="170683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92D050"/>
                </a:solidFill>
              </a:rPr>
              <a:t>Enterprise</a:t>
            </a:r>
            <a:r>
              <a:rPr lang="en-US" sz="1200" dirty="0">
                <a:solidFill>
                  <a:srgbClr val="92D050"/>
                </a:solidFill>
              </a:rPr>
              <a:t> </a:t>
            </a:r>
            <a:r>
              <a:rPr lang="en-US" sz="1200" b="1" dirty="0">
                <a:solidFill>
                  <a:srgbClr val="92D050"/>
                </a:solidFill>
              </a:rPr>
              <a:t>Systems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11B7844-8532-8E31-9CBD-5D8D5207BCA1}"/>
              </a:ext>
            </a:extLst>
          </p:cNvPr>
          <p:cNvSpPr txBox="1"/>
          <p:nvPr/>
        </p:nvSpPr>
        <p:spPr>
          <a:xfrm>
            <a:off x="215477" y="672436"/>
            <a:ext cx="1825090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US" sz="1000" b="1" dirty="0">
                <a:solidFill>
                  <a:schemeClr val="accent4"/>
                </a:solidFill>
                <a:latin typeface="Calibri" panose="020F0502020204030204"/>
              </a:rPr>
              <a:t>APIs &amp; Services</a:t>
            </a:r>
          </a:p>
          <a:p>
            <a:pPr>
              <a:defRPr/>
            </a:pPr>
            <a:r>
              <a:rPr lang="en-US" sz="800" dirty="0"/>
              <a:t>existing services become governed Tools.</a:t>
            </a:r>
          </a:p>
          <a:p>
            <a:pPr>
              <a:defRPr/>
            </a:pPr>
            <a:r>
              <a:rPr lang="en-US" sz="800" dirty="0"/>
              <a:t>business actions are safe and repeatable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70BDFBB-4373-9831-DB4C-94481FF1D26A}"/>
              </a:ext>
            </a:extLst>
          </p:cNvPr>
          <p:cNvSpPr txBox="1"/>
          <p:nvPr/>
        </p:nvSpPr>
        <p:spPr>
          <a:xfrm>
            <a:off x="3767224" y="670195"/>
            <a:ext cx="1895103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r>
              <a:rPr lang="en-US" sz="1000" b="1" dirty="0">
                <a:solidFill>
                  <a:schemeClr val="accent4"/>
                </a:solidFill>
                <a:latin typeface="Calibri" panose="020F0502020204030204"/>
              </a:rPr>
              <a:t>Data Stores / Warehouse</a:t>
            </a:r>
          </a:p>
          <a:p>
            <a:pPr algn="r">
              <a:defRPr/>
            </a:pPr>
            <a:r>
              <a:rPr lang="en-US" sz="800" dirty="0"/>
              <a:t>priority datasets become Resources with reliable listing/reading</a:t>
            </a:r>
          </a:p>
          <a:p>
            <a:pPr algn="r"/>
            <a:r>
              <a:rPr lang="en-US" sz="800" dirty="0"/>
              <a:t>consistent, fresh context for agents.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4EDD7C6-134C-03F0-376B-672AB11F5009}"/>
              </a:ext>
            </a:extLst>
          </p:cNvPr>
          <p:cNvSpPr txBox="1"/>
          <p:nvPr/>
        </p:nvSpPr>
        <p:spPr>
          <a:xfrm>
            <a:off x="3766504" y="4648549"/>
            <a:ext cx="1895103" cy="800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endParaRPr lang="en-US" sz="1000" b="1" dirty="0">
              <a:solidFill>
                <a:schemeClr val="accent4"/>
              </a:solidFill>
              <a:latin typeface="Calibri" panose="020F0502020204030204"/>
            </a:endParaRPr>
          </a:p>
          <a:p>
            <a:pPr algn="r">
              <a:defRPr/>
            </a:pPr>
            <a:r>
              <a:rPr lang="en-US" sz="800" dirty="0"/>
              <a:t>standardize secrets/rotation; expose approved runbooks as Tools</a:t>
            </a:r>
          </a:p>
          <a:p>
            <a:pPr algn="r">
              <a:defRPr/>
            </a:pPr>
            <a:r>
              <a:rPr lang="en-US" sz="800" dirty="0"/>
              <a:t>operational tasks become controlled and auditable.</a:t>
            </a:r>
          </a:p>
          <a:p>
            <a:pPr algn="r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Operations</a:t>
            </a:r>
            <a:endParaRPr lang="en-US" sz="8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2376415-15A9-0C4D-B999-1D099E4534C7}"/>
              </a:ext>
            </a:extLst>
          </p:cNvPr>
          <p:cNvSpPr txBox="1"/>
          <p:nvPr/>
        </p:nvSpPr>
        <p:spPr>
          <a:xfrm>
            <a:off x="215476" y="4927852"/>
            <a:ext cx="1926977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US" sz="800" dirty="0"/>
              <a:t>Repos and document stores become Resources with correct content types</a:t>
            </a:r>
          </a:p>
          <a:p>
            <a:r>
              <a:rPr lang="en-US" sz="800" dirty="0"/>
              <a:t>Fewer custom fetchers; easier discovery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Code &amp; Content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DFE0A4E-8F74-CD86-741C-BDE6AF0E04F3}"/>
              </a:ext>
            </a:extLst>
          </p:cNvPr>
          <p:cNvSpPr/>
          <p:nvPr/>
        </p:nvSpPr>
        <p:spPr>
          <a:xfrm>
            <a:off x="206573" y="5455321"/>
            <a:ext cx="5455034" cy="1175623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 anchorCtr="0"/>
          <a:lstStyle/>
          <a:p>
            <a:pPr algn="r"/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A3C3184-6472-7152-D71D-18AE709F8B32}"/>
              </a:ext>
            </a:extLst>
          </p:cNvPr>
          <p:cNvSpPr txBox="1"/>
          <p:nvPr/>
        </p:nvSpPr>
        <p:spPr>
          <a:xfrm>
            <a:off x="2001345" y="6460564"/>
            <a:ext cx="170683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92D050"/>
                </a:solidFill>
              </a:rPr>
              <a:t>Platform Layer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C313955-BDEE-F54D-BBFB-372FAFDACC55}"/>
              </a:ext>
            </a:extLst>
          </p:cNvPr>
          <p:cNvSpPr/>
          <p:nvPr/>
        </p:nvSpPr>
        <p:spPr>
          <a:xfrm>
            <a:off x="222675" y="5605652"/>
            <a:ext cx="1050856" cy="84148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accent2"/>
                </a:solidFill>
              </a:rPr>
              <a:t>Transport ingress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Reliable entry for long-lived MCP connections.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45A77CF-4E13-3ACB-BDE4-5CFD3E5B2DDF}"/>
              </a:ext>
            </a:extLst>
          </p:cNvPr>
          <p:cNvSpPr/>
          <p:nvPr/>
        </p:nvSpPr>
        <p:spPr>
          <a:xfrm>
            <a:off x="1316925" y="5610499"/>
            <a:ext cx="1050856" cy="84344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accent2"/>
                </a:solidFill>
              </a:rPr>
              <a:t>API gateway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Routes MCP requests to the right server/version with health/rate-limits.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4AAE86D-7178-C56D-7EC4-CF57BD00EE99}"/>
              </a:ext>
            </a:extLst>
          </p:cNvPr>
          <p:cNvSpPr/>
          <p:nvPr/>
        </p:nvSpPr>
        <p:spPr>
          <a:xfrm>
            <a:off x="2411175" y="5613163"/>
            <a:ext cx="1050856" cy="84344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accent2"/>
                </a:solidFill>
              </a:rPr>
              <a:t>Secrets/KMS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Centralized storage/rotation of per-server credentials.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54AED37-3A35-0DC5-6E27-5C38F4221B73}"/>
              </a:ext>
            </a:extLst>
          </p:cNvPr>
          <p:cNvSpPr/>
          <p:nvPr/>
        </p:nvSpPr>
        <p:spPr>
          <a:xfrm>
            <a:off x="3505425" y="5607833"/>
            <a:ext cx="1050856" cy="84344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accent2"/>
                </a:solidFill>
              </a:rPr>
              <a:t>Event bus (e.g., Kafka/NATS)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Delivers source-change events so clients stay fresh without polling.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DA39D98-E878-E8BF-88B7-E1EF703C31BA}"/>
              </a:ext>
            </a:extLst>
          </p:cNvPr>
          <p:cNvSpPr/>
          <p:nvPr/>
        </p:nvSpPr>
        <p:spPr>
          <a:xfrm>
            <a:off x="4599675" y="5604077"/>
            <a:ext cx="1050856" cy="843445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000" dirty="0">
                <a:solidFill>
                  <a:schemeClr val="accent2"/>
                </a:solidFill>
              </a:rPr>
              <a:t>CI/CD &amp; contract tests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Blocks breaking deploys by verifying schemas/behaviors before release.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28BE685-889B-BB21-B3EB-E9DA0D1A6146}"/>
              </a:ext>
            </a:extLst>
          </p:cNvPr>
          <p:cNvSpPr/>
          <p:nvPr/>
        </p:nvSpPr>
        <p:spPr>
          <a:xfrm>
            <a:off x="5727893" y="652463"/>
            <a:ext cx="6345574" cy="111631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 0 — Assess &amp; Decide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1E9168E-32E5-52D7-BF7D-D4F6A356B5C4}"/>
              </a:ext>
            </a:extLst>
          </p:cNvPr>
          <p:cNvSpPr/>
          <p:nvPr/>
        </p:nvSpPr>
        <p:spPr>
          <a:xfrm>
            <a:off x="5727893" y="1869064"/>
            <a:ext cx="6345574" cy="111631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 1 — Resources first 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F7F7909-3CB0-790F-D2B2-FC5B0EC02ECA}"/>
              </a:ext>
            </a:extLst>
          </p:cNvPr>
          <p:cNvSpPr/>
          <p:nvPr/>
        </p:nvSpPr>
        <p:spPr>
          <a:xfrm>
            <a:off x="5727893" y="3085665"/>
            <a:ext cx="6345574" cy="111631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 2 — Tools next (typed + approvals)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99CA478-5763-EF68-E14A-EA0412DFA3F4}"/>
              </a:ext>
            </a:extLst>
          </p:cNvPr>
          <p:cNvSpPr/>
          <p:nvPr/>
        </p:nvSpPr>
        <p:spPr>
          <a:xfrm>
            <a:off x="5727893" y="4302266"/>
            <a:ext cx="6345574" cy="111631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 3 — Prompts &amp; Completions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95ADEC0-C2F0-132D-D40F-BF6DA08AEC60}"/>
              </a:ext>
            </a:extLst>
          </p:cNvPr>
          <p:cNvSpPr/>
          <p:nvPr/>
        </p:nvSpPr>
        <p:spPr>
          <a:xfrm>
            <a:off x="5727893" y="5518866"/>
            <a:ext cx="6345574" cy="1116311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Phase 4 — Secure • Govern • Observe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01932D4-A27E-52DF-EC9F-736ABA1465DC}"/>
              </a:ext>
            </a:extLst>
          </p:cNvPr>
          <p:cNvSpPr/>
          <p:nvPr/>
        </p:nvSpPr>
        <p:spPr>
          <a:xfrm>
            <a:off x="5823336" y="837384"/>
            <a:ext cx="742621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Aim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choose entry points and guardrails before touching code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8DDD050-7BFE-D5ED-2432-5EA32B9EBD3E}"/>
              </a:ext>
            </a:extLst>
          </p:cNvPr>
          <p:cNvSpPr/>
          <p:nvPr/>
        </p:nvSpPr>
        <p:spPr>
          <a:xfrm>
            <a:off x="6632244" y="837383"/>
            <a:ext cx="3728222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Steps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Reuse Identity &amp; Access, API Gateway, Observability &amp; Audit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Add the MCP Client Gateway approach (library/sidecar), naming/version rules, and a light Policy &amp; Registry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4DB7AB1-1FF1-5822-CBCB-E35C7FF2100C}"/>
              </a:ext>
            </a:extLst>
          </p:cNvPr>
          <p:cNvSpPr/>
          <p:nvPr/>
        </p:nvSpPr>
        <p:spPr>
          <a:xfrm>
            <a:off x="5837404" y="2055890"/>
            <a:ext cx="742621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Aim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make priority data discoverable &amp; fresh through the Gateway.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6F19AB5-EAB2-9E41-4EBE-8ABDB415E2EF}"/>
              </a:ext>
            </a:extLst>
          </p:cNvPr>
          <p:cNvSpPr/>
          <p:nvPr/>
        </p:nvSpPr>
        <p:spPr>
          <a:xfrm>
            <a:off x="6646312" y="2055889"/>
            <a:ext cx="3728222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Steps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Reuse API gateway, Event bus, data stores/repos, Observability &amp; Audit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Build MCP Client Gateway read path + 3–5 Resource servers (correct </a:t>
            </a:r>
            <a:r>
              <a:rPr lang="en-US" sz="800" dirty="0" err="1">
                <a:solidFill>
                  <a:schemeClr val="tx1"/>
                </a:solidFill>
              </a:rPr>
              <a:t>mimeType</a:t>
            </a:r>
            <a:r>
              <a:rPr lang="en-US" sz="800" dirty="0">
                <a:solidFill>
                  <a:schemeClr val="tx1"/>
                </a:solidFill>
              </a:rPr>
              <a:t>, opaque cursors, update hooks)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Seed Policy &amp; Registry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393F0BA-1B88-D62B-4106-19FEB03282A3}"/>
              </a:ext>
            </a:extLst>
          </p:cNvPr>
          <p:cNvSpPr/>
          <p:nvPr/>
        </p:nvSpPr>
        <p:spPr>
          <a:xfrm>
            <a:off x="5844438" y="3274396"/>
            <a:ext cx="742621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Aim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make critical actions callable and governed.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55E8F58-5F61-0102-5D3C-CDA71D4DC76A}"/>
              </a:ext>
            </a:extLst>
          </p:cNvPr>
          <p:cNvSpPr/>
          <p:nvPr/>
        </p:nvSpPr>
        <p:spPr>
          <a:xfrm>
            <a:off x="6653346" y="3274395"/>
            <a:ext cx="3728222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Steps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Reuse business APIs, approval console, API gateway, Observability &amp; Audit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Build Tool servers with </a:t>
            </a:r>
            <a:r>
              <a:rPr lang="en-US" sz="800" dirty="0" err="1">
                <a:solidFill>
                  <a:schemeClr val="tx1"/>
                </a:solidFill>
              </a:rPr>
              <a:t>inputSchema</a:t>
            </a:r>
            <a:r>
              <a:rPr lang="en-US" sz="800" dirty="0">
                <a:solidFill>
                  <a:schemeClr val="tx1"/>
                </a:solidFill>
              </a:rPr>
              <a:t>/</a:t>
            </a:r>
            <a:r>
              <a:rPr lang="en-US" sz="800" dirty="0" err="1">
                <a:solidFill>
                  <a:schemeClr val="tx1"/>
                </a:solidFill>
              </a:rPr>
              <a:t>outputSchema</a:t>
            </a:r>
            <a:r>
              <a:rPr lang="en-US" sz="800" dirty="0">
                <a:solidFill>
                  <a:schemeClr val="tx1"/>
                </a:solidFill>
              </a:rPr>
              <a:t>, MCP Client Gateway Schema Guard + rate-limits, HITL prompts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Expand Policy &amp; Registry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DB0C7BF-7C4F-77F0-D300-5E517632DA9F}"/>
              </a:ext>
            </a:extLst>
          </p:cNvPr>
          <p:cNvSpPr/>
          <p:nvPr/>
        </p:nvSpPr>
        <p:spPr>
          <a:xfrm>
            <a:off x="5830370" y="4492902"/>
            <a:ext cx="742621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Aim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reduce argument friction; standardize reusable guidance.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1835FC0-01B4-9DA0-D0FE-0A52B426F942}"/>
              </a:ext>
            </a:extLst>
          </p:cNvPr>
          <p:cNvSpPr/>
          <p:nvPr/>
        </p:nvSpPr>
        <p:spPr>
          <a:xfrm>
            <a:off x="6639278" y="4492901"/>
            <a:ext cx="3728222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Steps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Reuse prompt content, Observability &amp; Audit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Build Prompts &amp; Completions — publish Prompt Catalog with owners/versions in Policy &amp; Registry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Wire completion/complete with small cache/debounce in MCP Client Gateway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5B55408-9787-1AC8-7385-401113CA25A8}"/>
              </a:ext>
            </a:extLst>
          </p:cNvPr>
          <p:cNvSpPr/>
          <p:nvPr/>
        </p:nvSpPr>
        <p:spPr>
          <a:xfrm>
            <a:off x="5851471" y="5711407"/>
            <a:ext cx="742621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Aim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operate at enterprise scale with confidence.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4B7A9FB-C899-FBD3-674B-AAA178429AF5}"/>
              </a:ext>
            </a:extLst>
          </p:cNvPr>
          <p:cNvSpPr/>
          <p:nvPr/>
        </p:nvSpPr>
        <p:spPr>
          <a:xfrm>
            <a:off x="6660379" y="5711406"/>
            <a:ext cx="3728222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Steps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Reuse Identity &amp; Access, Observability &amp; Audit, API gateway, Secrets/KMS, Event bus, CI/CD &amp; contract tests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chemeClr val="tx1"/>
                </a:solidFill>
              </a:rPr>
              <a:t>Build scopes/tenancy on all calls, Policy &amp; Registry as CI gate, SLO dashboards + error budgets, Change Management (deprecation/version), cost per 1K calls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CE60D48-47C0-3653-7E24-468B118B8753}"/>
              </a:ext>
            </a:extLst>
          </p:cNvPr>
          <p:cNvSpPr/>
          <p:nvPr/>
        </p:nvSpPr>
        <p:spPr>
          <a:xfrm>
            <a:off x="10426751" y="837383"/>
            <a:ext cx="1599008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Exit Gate</a:t>
            </a:r>
          </a:p>
          <a:p>
            <a:r>
              <a:rPr lang="en-US" sz="800" dirty="0">
                <a:solidFill>
                  <a:schemeClr val="tx1"/>
                </a:solidFill>
              </a:rPr>
              <a:t>Top-3 data sources + Top-3 actions have owners, and the “Gateway-only” principle is signed off.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40A3582-CC13-8225-6BC6-C1EC525C93F6}"/>
              </a:ext>
            </a:extLst>
          </p:cNvPr>
          <p:cNvSpPr/>
          <p:nvPr/>
        </p:nvSpPr>
        <p:spPr>
          <a:xfrm>
            <a:off x="10440819" y="2055889"/>
            <a:ext cx="1599008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Exit Gate</a:t>
            </a:r>
          </a:p>
          <a:p>
            <a:r>
              <a:rPr lang="en-US" sz="800" dirty="0">
                <a:solidFill>
                  <a:schemeClr val="tx1"/>
                </a:solidFill>
              </a:rPr>
              <a:t>Agents browse/read via Gateway, freshness checks are green, and bespoke adapters for these sources are retired.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F403532-B771-6CA4-0DAC-362297A0054F}"/>
              </a:ext>
            </a:extLst>
          </p:cNvPr>
          <p:cNvSpPr/>
          <p:nvPr/>
        </p:nvSpPr>
        <p:spPr>
          <a:xfrm>
            <a:off x="10447853" y="3274395"/>
            <a:ext cx="1599008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Exit Gate</a:t>
            </a:r>
          </a:p>
          <a:p>
            <a:r>
              <a:rPr lang="en-US" sz="800" dirty="0">
                <a:solidFill>
                  <a:schemeClr val="tx1"/>
                </a:solidFill>
              </a:rPr>
              <a:t>Most target actions run via Gateway, approvals/results show in dashboards, and latency meets target.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04251B4-FF20-71E7-915C-85BBDEC5D67F}"/>
              </a:ext>
            </a:extLst>
          </p:cNvPr>
          <p:cNvSpPr/>
          <p:nvPr/>
        </p:nvSpPr>
        <p:spPr>
          <a:xfrm>
            <a:off x="10433785" y="4492901"/>
            <a:ext cx="1599008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Exit Gate</a:t>
            </a:r>
          </a:p>
          <a:p>
            <a:r>
              <a:rPr lang="en-US" sz="800" dirty="0">
                <a:solidFill>
                  <a:schemeClr val="tx1"/>
                </a:solidFill>
              </a:rPr>
              <a:t>Input errors drop, time-to-first-answer improves, and every template has an owner/version.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95F7FC2-20AF-D9D4-79FF-447792E62ED7}"/>
              </a:ext>
            </a:extLst>
          </p:cNvPr>
          <p:cNvSpPr/>
          <p:nvPr/>
        </p:nvSpPr>
        <p:spPr>
          <a:xfrm>
            <a:off x="10454886" y="5711406"/>
            <a:ext cx="1599008" cy="811917"/>
          </a:xfrm>
          <a:prstGeom prst="rect">
            <a:avLst/>
          </a:prstGeom>
          <a:solidFill>
            <a:schemeClr val="bg1"/>
          </a:solidFill>
          <a:ln w="635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Exit Gate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100% calls are audited, SLOs stay green for 30 days, and unit cost is tracked and within target.</a:t>
            </a:r>
          </a:p>
        </p:txBody>
      </p:sp>
    </p:spTree>
    <p:extLst>
      <p:ext uri="{BB962C8B-B14F-4D97-AF65-F5344CB8AC3E}">
        <p14:creationId xmlns:p14="http://schemas.microsoft.com/office/powerpoint/2010/main" val="3272190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2381</Words>
  <Application>Microsoft Office PowerPoint</Application>
  <PresentationFormat>Widescreen</PresentationFormat>
  <Paragraphs>351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How MCP Works: The Protocol in Action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Neural Ninja</dc:creator>
  <cp:lastModifiedBy>Neural Ninja</cp:lastModifiedBy>
  <cp:revision>4</cp:revision>
  <dcterms:created xsi:type="dcterms:W3CDTF">2025-11-11T03:15:18Z</dcterms:created>
  <dcterms:modified xsi:type="dcterms:W3CDTF">2025-11-13T14:33:47Z</dcterms:modified>
</cp:coreProperties>
</file>