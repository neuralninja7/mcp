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59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9EA076-69ED-405D-97A6-829DADEFD75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AFBB7D-DBEE-42A2-9616-53C540D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21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FBB7D-DBEE-42A2-9616-53C540D70F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48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800AB-7630-9992-C06E-238DB6730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2CA4EC-C94C-208A-A774-FB83C535F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4DFD5-A37A-0206-A7AB-AD3B506A8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D599F-438E-8238-D567-256DB039F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4A621-0661-D384-EEB9-4EC0EE16E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619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DA1CF-0491-0F87-F773-5147A9B59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4921C-4E98-D966-D9E1-9383DE23E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FF70A-20B5-2390-5150-47DDE0A6D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AE44A-31F3-7486-2A23-0556BBB0E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B3DCF-8F08-2ED8-C2B6-2C2A390D3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19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EC91A-3CA1-7774-1559-C4F531CB1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CFFB1-BD3B-31CC-665E-793E7A14A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35C42-9799-7661-F14D-C19CCCC8C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F5550-159D-27A5-7F4B-A3B7C1582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D8F36-5E09-B89C-6450-2BCD06B0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79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71F74-CD54-F71B-0249-A33EDEB8A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53AF7-E70A-0FFE-F3F3-5B176C1E34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CD2491-428E-16C2-4FB3-E66C3195A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FCEF4-8CA1-94FB-DCF2-521DBB712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A0186-0FD8-2FAC-5242-B6426C3F5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E8073-7E8A-8FD8-A478-3431CA1C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26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68B8-BB9A-A21F-3E37-26486D2B4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B4966-1569-FEFE-F5F5-1FE4B7309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33F412-8DD0-4F8D-7914-F88896FD3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548C5D-FEDE-0833-4E55-BC3C5EE0C6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8429D0-D562-71E3-64A7-0A0C84BF1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474C37-88FD-658F-9BD6-577703270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FCB0D4-559C-E011-3FE6-114001B55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751D67-3033-BE7A-82C1-3DCC6BDF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73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DE6D8-A1A7-8CF3-691B-A58CBCE6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41E9C-673D-C5A8-2F6B-172ECC02C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536B65-10A8-C299-FFF6-4BC8572D9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82D40-4E31-3705-F85B-8CD85569D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08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3504A9-342A-D925-662D-D236C3F07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91EFA3-DC22-73B2-4DE6-6AD7313FA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15AE7-6531-537A-A3E8-369D48D29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27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6481-A54A-22BA-A02E-9F42D1229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A0190-1E80-418A-689A-48C50C8D9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26FE6-881C-7893-FE9F-5E5AE1202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D6B63-F621-6388-475A-513CFE976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F6DD0-1E4A-C1A6-017B-27BCF2E38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E8A41-24B2-3612-1095-7246614E8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00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507E-1870-FA71-10E5-EE52A40F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7A8466-5A6E-B0E3-39BB-55A594AAD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86599-2137-0BE2-4373-17F7D556C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F364A-BCE4-2A9B-494A-1F8A6AA3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D5858-C590-55F7-9AE0-775A0F81B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0F420-D2A5-3120-4B3C-C8982D50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3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D56C2-70B9-056D-7F60-A62F3DDD4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71F43-AD7C-B3F2-37F0-2649D11B7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D08A0-4C29-21A2-2C52-50FA7B01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B5712-A3ED-417F-3F63-C495AF0E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BC00C-6AEB-487E-9F0D-9DF08435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355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EB7278-EB40-0AC2-DA71-71AFED7A5C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C390B-9E29-1CD4-2356-C4F1133A1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4C516-9532-6A07-330F-8A3A45512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7388A-838E-781F-9F73-A19E571CE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5E816-BCD9-2A79-7442-576DD5BDE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8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92246C-102B-1FD6-9C6F-15D7443A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90FD4-003E-A745-81FE-79290C412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54A75-7D33-3001-8993-0377CC547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96F90-2D68-4AB2-921B-D76D18D5B99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7D030-8C57-B8A6-DC79-C2EDA6207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21193-9502-F2B5-E88C-F2F997B84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9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009CD-F6CD-05A7-20FE-6CEE1ED46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4F926F-FDA7-F0F2-6B08-680C838FC7CC}"/>
              </a:ext>
            </a:extLst>
          </p:cNvPr>
          <p:cNvSpPr/>
          <p:nvPr/>
        </p:nvSpPr>
        <p:spPr>
          <a:xfrm>
            <a:off x="145473" y="611605"/>
            <a:ext cx="11972636" cy="163266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🆚 Before vs After MCP: From brittle API integrations to standardized schema-typed contracts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6EED8C-B719-DC06-A089-A67573AD6E25}"/>
              </a:ext>
            </a:extLst>
          </p:cNvPr>
          <p:cNvSpPr/>
          <p:nvPr/>
        </p:nvSpPr>
        <p:spPr>
          <a:xfrm>
            <a:off x="224444" y="782874"/>
            <a:ext cx="5724236" cy="1392683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🤷 Without MCP: Integration Chaos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4EA8EC-E549-8341-DB04-66F281B46ECD}"/>
              </a:ext>
            </a:extLst>
          </p:cNvPr>
          <p:cNvSpPr/>
          <p:nvPr/>
        </p:nvSpPr>
        <p:spPr>
          <a:xfrm>
            <a:off x="6150263" y="782874"/>
            <a:ext cx="5896264" cy="1392683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🏆 With MCP: Standardized Contract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C1EF88-DF71-0718-877C-677725259EEF}"/>
              </a:ext>
            </a:extLst>
          </p:cNvPr>
          <p:cNvSpPr/>
          <p:nvPr/>
        </p:nvSpPr>
        <p:spPr>
          <a:xfrm>
            <a:off x="145473" y="2352038"/>
            <a:ext cx="11972636" cy="1076962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🎯 MCP Core Primitives -Three interoperable building blocks: Context, Actions, UX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728218-8CCD-006A-174D-B81CB96F1F14}"/>
              </a:ext>
            </a:extLst>
          </p:cNvPr>
          <p:cNvSpPr/>
          <p:nvPr/>
        </p:nvSpPr>
        <p:spPr>
          <a:xfrm>
            <a:off x="224444" y="2591396"/>
            <a:ext cx="3803996" cy="798351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/>
              <a:t>🗂️</a:t>
            </a:r>
            <a:r>
              <a:rPr lang="en-US" sz="1100" b="1" dirty="0">
                <a:solidFill>
                  <a:schemeClr val="tx1"/>
                </a:solidFill>
              </a:rPr>
              <a:t>Resources (Context Data)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Reusable, URI-based data endpoints (files, configs, schemas) the model can read.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Example: file://, git://, https:// resources with subscription + update notifications.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458285-9C5F-D2EE-275F-F571EF805676}"/>
              </a:ext>
            </a:extLst>
          </p:cNvPr>
          <p:cNvSpPr/>
          <p:nvPr/>
        </p:nvSpPr>
        <p:spPr>
          <a:xfrm>
            <a:off x="4119827" y="2591395"/>
            <a:ext cx="3805002" cy="798351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/>
              <a:t>⚙️</a:t>
            </a:r>
            <a:r>
              <a:rPr lang="en-US" sz="1100" b="1" dirty="0">
                <a:solidFill>
                  <a:schemeClr val="tx1"/>
                </a:solidFill>
              </a:rPr>
              <a:t>Tools (Actions)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Model-triggered functions with typed inputs &amp; outputs - validated and audited.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Example: </a:t>
            </a:r>
            <a:r>
              <a:rPr lang="en-US" sz="900" dirty="0" err="1">
                <a:solidFill>
                  <a:schemeClr val="tx1"/>
                </a:solidFill>
              </a:rPr>
              <a:t>get_weather</a:t>
            </a:r>
            <a:r>
              <a:rPr lang="en-US" sz="900" dirty="0">
                <a:solidFill>
                  <a:schemeClr val="tx1"/>
                </a:solidFill>
              </a:rPr>
              <a:t>(city="NYC") → temperature, humidity, condition.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27F06D-D1D0-A9F0-28B0-EEAEEAC98AF0}"/>
              </a:ext>
            </a:extLst>
          </p:cNvPr>
          <p:cNvSpPr/>
          <p:nvPr/>
        </p:nvSpPr>
        <p:spPr>
          <a:xfrm>
            <a:off x="8016215" y="2591394"/>
            <a:ext cx="4030312" cy="798351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/>
              <a:t>💬</a:t>
            </a:r>
            <a:r>
              <a:rPr lang="en-US" sz="1100" b="1" dirty="0">
                <a:solidFill>
                  <a:schemeClr val="tx1"/>
                </a:solidFill>
              </a:rPr>
              <a:t>Prompts &amp; Completions (Reusable UX)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Server-published prompt patterns and argument autocompletion for LLM UX.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Example: /</a:t>
            </a:r>
            <a:r>
              <a:rPr lang="en-US" sz="900" dirty="0" err="1">
                <a:solidFill>
                  <a:schemeClr val="tx1"/>
                </a:solidFill>
              </a:rPr>
              <a:t>code_review</a:t>
            </a:r>
            <a:r>
              <a:rPr lang="en-US" sz="900" dirty="0">
                <a:solidFill>
                  <a:schemeClr val="tx1"/>
                </a:solidFill>
              </a:rPr>
              <a:t> auto-fills language and framework fields as you type.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EDF0F4-F212-C5DC-DF3E-3A04BF75C613}"/>
              </a:ext>
            </a:extLst>
          </p:cNvPr>
          <p:cNvSpPr/>
          <p:nvPr/>
        </p:nvSpPr>
        <p:spPr>
          <a:xfrm>
            <a:off x="145473" y="3530600"/>
            <a:ext cx="11972636" cy="2214418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⚓ Spec Anchors: Capabilities &amp; Message Flow: Defines who declares, who calls, and how messages stay uniform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417CF4-DC55-3B74-D2A5-54D978E730D4}"/>
              </a:ext>
            </a:extLst>
          </p:cNvPr>
          <p:cNvSpPr/>
          <p:nvPr/>
        </p:nvSpPr>
        <p:spPr>
          <a:xfrm>
            <a:off x="211743" y="3981552"/>
            <a:ext cx="5736937" cy="1689574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🌐 Server Declares Capabilities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A328B-AC56-D058-8F04-6E589C59DAC6}"/>
              </a:ext>
            </a:extLst>
          </p:cNvPr>
          <p:cNvSpPr/>
          <p:nvPr/>
        </p:nvSpPr>
        <p:spPr>
          <a:xfrm>
            <a:off x="6150263" y="3981552"/>
            <a:ext cx="5896264" cy="1689573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🤝 Client ↔ Model Message Patterns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247814-E3FC-5A64-CFBE-FEE487BF1421}"/>
              </a:ext>
            </a:extLst>
          </p:cNvPr>
          <p:cNvSpPr/>
          <p:nvPr/>
        </p:nvSpPr>
        <p:spPr>
          <a:xfrm>
            <a:off x="307999" y="3718227"/>
            <a:ext cx="3385470" cy="194021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Server → declares capabilities JSON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1F1663-FFFA-A9DA-4474-4F1EA099215F}"/>
              </a:ext>
            </a:extLst>
          </p:cNvPr>
          <p:cNvSpPr/>
          <p:nvPr/>
        </p:nvSpPr>
        <p:spPr>
          <a:xfrm>
            <a:off x="4515478" y="3718228"/>
            <a:ext cx="3161043" cy="194021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Client → reads &amp; interprets flags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D1C402-AE77-4E77-01E6-88A9FA8997CC}"/>
              </a:ext>
            </a:extLst>
          </p:cNvPr>
          <p:cNvSpPr/>
          <p:nvPr/>
        </p:nvSpPr>
        <p:spPr>
          <a:xfrm>
            <a:off x="8648391" y="3718228"/>
            <a:ext cx="3161043" cy="194021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Model → safely uses only declared ones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FFFA764-9A58-FDEE-2306-3E66792DBBDA}"/>
              </a:ext>
            </a:extLst>
          </p:cNvPr>
          <p:cNvSpPr/>
          <p:nvPr/>
        </p:nvSpPr>
        <p:spPr>
          <a:xfrm>
            <a:off x="6192593" y="4200643"/>
            <a:ext cx="5566151" cy="210546"/>
          </a:xfrm>
          <a:prstGeom prst="roundRect">
            <a:avLst/>
          </a:prstGeom>
          <a:solidFill>
            <a:schemeClr val="bg1"/>
          </a:solidFill>
          <a:ln w="3175">
            <a:solidFill>
              <a:srgbClr val="00206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/>
            <a:r>
              <a:rPr lang="en-US" sz="1050" b="1" i="1" dirty="0">
                <a:solidFill>
                  <a:schemeClr val="tx1"/>
                </a:solidFill>
              </a:rPr>
              <a:t>Every MCP message just lists, reads, calls, or completes - one shape, no adapters.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547F18-2CBD-6B82-9E64-A4B87C79DB0F}"/>
              </a:ext>
            </a:extLst>
          </p:cNvPr>
          <p:cNvSpPr/>
          <p:nvPr/>
        </p:nvSpPr>
        <p:spPr>
          <a:xfrm>
            <a:off x="140112" y="5801116"/>
            <a:ext cx="11977997" cy="887091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💼 Enterprise-Grade Foundations: Governance, transport, and authentication to deploy MCP safely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01D00-2EF5-B6FA-0F25-0E1189AFEEEF}"/>
              </a:ext>
            </a:extLst>
          </p:cNvPr>
          <p:cNvSpPr/>
          <p:nvPr/>
        </p:nvSpPr>
        <p:spPr>
          <a:xfrm>
            <a:off x="266699" y="6045881"/>
            <a:ext cx="2772065" cy="479884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dirty="0"/>
              <a:t>🔒</a:t>
            </a:r>
            <a:r>
              <a:rPr lang="en-US" sz="1100" dirty="0">
                <a:solidFill>
                  <a:schemeClr val="tx1"/>
                </a:solidFill>
              </a:rPr>
              <a:t>Security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Servers MUST validate inputs, encode binary, check permissions.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E7C0B0-A8AD-A1ED-A60F-E85E1AD83643}"/>
              </a:ext>
            </a:extLst>
          </p:cNvPr>
          <p:cNvSpPr/>
          <p:nvPr/>
        </p:nvSpPr>
        <p:spPr>
          <a:xfrm>
            <a:off x="3271074" y="6043950"/>
            <a:ext cx="2772065" cy="479884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⚖️ Governance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Human-in-the-loop on sensitive calls, logging &amp; audit advised.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E836BC-EBD4-630C-42A3-17EBC0559303}"/>
              </a:ext>
            </a:extLst>
          </p:cNvPr>
          <p:cNvSpPr/>
          <p:nvPr/>
        </p:nvSpPr>
        <p:spPr>
          <a:xfrm>
            <a:off x="6275449" y="6040086"/>
            <a:ext cx="2772065" cy="479884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🚀 Transport</a:t>
            </a:r>
          </a:p>
          <a:p>
            <a:pPr algn="ctr"/>
            <a:r>
              <a:rPr lang="en-US" sz="1000" dirty="0" err="1">
                <a:solidFill>
                  <a:schemeClr val="tx1"/>
                </a:solidFill>
              </a:rPr>
              <a:t>Streamable</a:t>
            </a:r>
            <a:r>
              <a:rPr lang="en-US" sz="1000" dirty="0">
                <a:solidFill>
                  <a:schemeClr val="tx1"/>
                </a:solidFill>
              </a:rPr>
              <a:t> HTTP (stateful/stateless), SSE, JSON-RPC messaging.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D63572-5057-D0D6-2958-F31511A9FAA0}"/>
              </a:ext>
            </a:extLst>
          </p:cNvPr>
          <p:cNvSpPr/>
          <p:nvPr/>
        </p:nvSpPr>
        <p:spPr>
          <a:xfrm>
            <a:off x="9279823" y="6042018"/>
            <a:ext cx="2772065" cy="479884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dirty="0"/>
              <a:t>🔑</a:t>
            </a:r>
            <a:r>
              <a:rPr lang="en-US" sz="1100" dirty="0">
                <a:solidFill>
                  <a:schemeClr val="tx1"/>
                </a:solidFill>
              </a:rPr>
              <a:t>Auth (SDK)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OAuth2 RS support, token verification, RFC 9728 discovery.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71A70398-81BF-2313-439A-EFB8DB7D1B5C}"/>
              </a:ext>
            </a:extLst>
          </p:cNvPr>
          <p:cNvSpPr txBox="1">
            <a:spLocks/>
          </p:cNvSpPr>
          <p:nvPr/>
        </p:nvSpPr>
        <p:spPr>
          <a:xfrm>
            <a:off x="145473" y="97271"/>
            <a:ext cx="10515600" cy="318366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MCP: The Common Language Between Agents, Apps, and Data in Agentic Era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B696E1-4F76-18CE-B60A-DCE1D42A9873}"/>
              </a:ext>
            </a:extLst>
          </p:cNvPr>
          <p:cNvSpPr txBox="1"/>
          <p:nvPr/>
        </p:nvSpPr>
        <p:spPr>
          <a:xfrm>
            <a:off x="248227" y="394791"/>
            <a:ext cx="8220364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000" b="1" i="1" dirty="0"/>
              <a:t>Standardizes how AI systems discover, read, and act - securely and predictably.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290C06-499B-BCD5-9821-62AB6C7ECEA6}"/>
              </a:ext>
            </a:extLst>
          </p:cNvPr>
          <p:cNvSpPr/>
          <p:nvPr/>
        </p:nvSpPr>
        <p:spPr>
          <a:xfrm>
            <a:off x="279400" y="979055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Ad-hoc adapters everywhere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Every agent or app speaks its own dialect - no shared rules for loading or actions.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4A33146-6F2C-9B09-493C-36F91AECFF10}"/>
              </a:ext>
            </a:extLst>
          </p:cNvPr>
          <p:cNvSpPr/>
          <p:nvPr/>
        </p:nvSpPr>
        <p:spPr>
          <a:xfrm>
            <a:off x="1417423" y="979055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Unstructured, brittle I/O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Free-form JSON with no schema, one field rename can silently break downstream chains.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301471-DE80-1D46-4028-AAF5F8AF2894}"/>
              </a:ext>
            </a:extLst>
          </p:cNvPr>
          <p:cNvSpPr/>
          <p:nvPr/>
        </p:nvSpPr>
        <p:spPr>
          <a:xfrm>
            <a:off x="2555446" y="979055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Context fragmentation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Files, configs, and APIs live everywhere - no discovery or subscription to changes.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ED9F872-CBCA-5EE1-3CE3-2D54E576F375}"/>
              </a:ext>
            </a:extLst>
          </p:cNvPr>
          <p:cNvSpPr/>
          <p:nvPr/>
        </p:nvSpPr>
        <p:spPr>
          <a:xfrm>
            <a:off x="3693469" y="979055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Action ambiguity</a:t>
            </a:r>
          </a:p>
          <a:p>
            <a:pPr algn="ctr"/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No standard way to describe callable functions or typed return structures.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C8F9422-CD3D-D722-EF70-65B191335DA2}"/>
              </a:ext>
            </a:extLst>
          </p:cNvPr>
          <p:cNvSpPr/>
          <p:nvPr/>
        </p:nvSpPr>
        <p:spPr>
          <a:xfrm>
            <a:off x="4831490" y="979055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No lifecycle events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Clients can’t detect updates, pagination and change notifications are inconsistent.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7443D17-5478-85D3-89BF-709525777B3A}"/>
              </a:ext>
            </a:extLst>
          </p:cNvPr>
          <p:cNvSpPr/>
          <p:nvPr/>
        </p:nvSpPr>
        <p:spPr>
          <a:xfrm>
            <a:off x="6222487" y="976889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Three primitives, one model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Resources, Tools, and Prompts - consistently discoverable, schema-defined, and </a:t>
            </a:r>
            <a:r>
              <a:rPr lang="en-US" sz="900" dirty="0" err="1">
                <a:solidFill>
                  <a:schemeClr val="tx1"/>
                </a:solidFill>
              </a:rPr>
              <a:t>versionable</a:t>
            </a:r>
            <a:r>
              <a:rPr lang="en-US" sz="9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D72C77D-0CF1-1F8C-2DB2-6E76DA555B92}"/>
              </a:ext>
            </a:extLst>
          </p:cNvPr>
          <p:cNvSpPr/>
          <p:nvPr/>
        </p:nvSpPr>
        <p:spPr>
          <a:xfrm>
            <a:off x="7360510" y="976889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Typed schemas &amp; JSON-RPC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Structured I/O with </a:t>
            </a:r>
            <a:r>
              <a:rPr lang="en-US" sz="900" dirty="0" err="1">
                <a:solidFill>
                  <a:schemeClr val="tx1"/>
                </a:solidFill>
              </a:rPr>
              <a:t>inputSchema</a:t>
            </a:r>
            <a:r>
              <a:rPr lang="en-US" sz="900" dirty="0">
                <a:solidFill>
                  <a:schemeClr val="tx1"/>
                </a:solidFill>
              </a:rPr>
              <a:t>, </a:t>
            </a:r>
            <a:r>
              <a:rPr lang="en-US" sz="900" dirty="0" err="1">
                <a:solidFill>
                  <a:schemeClr val="tx1"/>
                </a:solidFill>
              </a:rPr>
              <a:t>outputSchema</a:t>
            </a:r>
            <a:r>
              <a:rPr lang="en-US" sz="900" dirty="0">
                <a:solidFill>
                  <a:schemeClr val="tx1"/>
                </a:solidFill>
              </a:rPr>
              <a:t>, and capability negotiation for safety.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9BC5107-A3EC-9EFB-6122-240937A843D1}"/>
              </a:ext>
            </a:extLst>
          </p:cNvPr>
          <p:cNvSpPr/>
          <p:nvPr/>
        </p:nvSpPr>
        <p:spPr>
          <a:xfrm>
            <a:off x="8498533" y="976889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Resource graph + annotations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URI-addressed data with metadata: audience, priority, </a:t>
            </a:r>
            <a:r>
              <a:rPr lang="en-US" sz="900" dirty="0" err="1">
                <a:solidFill>
                  <a:schemeClr val="tx1"/>
                </a:solidFill>
              </a:rPr>
              <a:t>lastModified</a:t>
            </a:r>
            <a:r>
              <a:rPr lang="en-US" sz="900" dirty="0">
                <a:solidFill>
                  <a:schemeClr val="tx1"/>
                </a:solidFill>
              </a:rPr>
              <a:t>, and subscriptions.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34900D0-1437-ECF2-2E83-9FBABC4C2309}"/>
              </a:ext>
            </a:extLst>
          </p:cNvPr>
          <p:cNvSpPr/>
          <p:nvPr/>
        </p:nvSpPr>
        <p:spPr>
          <a:xfrm>
            <a:off x="9636556" y="976889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Trustable tool calls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Defined via tools/list and tools/call, returns validated </a:t>
            </a:r>
            <a:r>
              <a:rPr lang="en-US" sz="900" dirty="0" err="1">
                <a:solidFill>
                  <a:schemeClr val="tx1"/>
                </a:solidFill>
              </a:rPr>
              <a:t>structuredContent</a:t>
            </a:r>
            <a:r>
              <a:rPr lang="en-US" sz="900" dirty="0">
                <a:solidFill>
                  <a:schemeClr val="tx1"/>
                </a:solidFill>
              </a:rPr>
              <a:t> or linked resources.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D56EAB3-CA93-5932-D034-6D50EF2BE78E}"/>
              </a:ext>
            </a:extLst>
          </p:cNvPr>
          <p:cNvSpPr/>
          <p:nvPr/>
        </p:nvSpPr>
        <p:spPr>
          <a:xfrm>
            <a:off x="10774577" y="976889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Events + pagination</a:t>
            </a:r>
          </a:p>
          <a:p>
            <a:pPr algn="ctr"/>
            <a:r>
              <a:rPr lang="en-US" sz="900" dirty="0" err="1">
                <a:solidFill>
                  <a:schemeClr val="tx1"/>
                </a:solidFill>
              </a:rPr>
              <a:t>nextCursor</a:t>
            </a:r>
            <a:r>
              <a:rPr lang="en-US" sz="900" dirty="0">
                <a:solidFill>
                  <a:schemeClr val="tx1"/>
                </a:solidFill>
              </a:rPr>
              <a:t> for paging, </a:t>
            </a:r>
            <a:r>
              <a:rPr lang="en-US" sz="900" dirty="0" err="1">
                <a:solidFill>
                  <a:schemeClr val="tx1"/>
                </a:solidFill>
              </a:rPr>
              <a:t>listChanged</a:t>
            </a:r>
            <a:r>
              <a:rPr lang="en-US" sz="900" dirty="0">
                <a:solidFill>
                  <a:schemeClr val="tx1"/>
                </a:solidFill>
              </a:rPr>
              <a:t> and updated events for real-time awareness.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A54B931-D7B2-E1D5-FBC8-B8F1D7EEEC46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3693469" y="3815238"/>
            <a:ext cx="822009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19F3001-8B12-5FC2-6341-B8D8C8C15684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7676521" y="3815239"/>
            <a:ext cx="97187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A950DC9-5820-B495-E016-249567477BFC}"/>
              </a:ext>
            </a:extLst>
          </p:cNvPr>
          <p:cNvSpPr/>
          <p:nvPr/>
        </p:nvSpPr>
        <p:spPr>
          <a:xfrm>
            <a:off x="279400" y="4192627"/>
            <a:ext cx="5566151" cy="210546"/>
          </a:xfrm>
          <a:prstGeom prst="roundRect">
            <a:avLst/>
          </a:prstGeom>
          <a:solidFill>
            <a:schemeClr val="bg1"/>
          </a:solidFill>
          <a:ln w="3175">
            <a:solidFill>
              <a:srgbClr val="00206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/>
            <a:r>
              <a:rPr lang="en-US" sz="1050" b="1" i="1" dirty="0">
                <a:solidFill>
                  <a:schemeClr val="tx1"/>
                </a:solidFill>
              </a:rPr>
              <a:t>Client reads these capabilities and limits requests to supported operations.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16DE364-3DD2-B473-932C-E58CC0FD4C1E}"/>
              </a:ext>
            </a:extLst>
          </p:cNvPr>
          <p:cNvSpPr/>
          <p:nvPr/>
        </p:nvSpPr>
        <p:spPr>
          <a:xfrm>
            <a:off x="6243497" y="4522703"/>
            <a:ext cx="1737360" cy="1107279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t" anchorCtr="0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📝 Context Data Operations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List or fetch context data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endParaRPr lang="en-US" sz="9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resources/list resources/read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4460FB1-7B68-2DF7-9061-42EC7D396060}"/>
              </a:ext>
            </a:extLst>
          </p:cNvPr>
          <p:cNvSpPr/>
          <p:nvPr/>
        </p:nvSpPr>
        <p:spPr>
          <a:xfrm>
            <a:off x="8236205" y="4522703"/>
            <a:ext cx="1737360" cy="1107279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t" anchorCtr="0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Action Operations</a:t>
            </a:r>
            <a:endParaRPr 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Execute an action with typed I/O</a:t>
            </a:r>
          </a:p>
          <a:p>
            <a:pPr algn="ctr"/>
            <a:endParaRPr lang="en-US" sz="9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9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tools/call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E947E39-77F4-6053-1DCD-A738B56C58A4}"/>
              </a:ext>
            </a:extLst>
          </p:cNvPr>
          <p:cNvSpPr/>
          <p:nvPr/>
        </p:nvSpPr>
        <p:spPr>
          <a:xfrm>
            <a:off x="10228912" y="4522703"/>
            <a:ext cx="1737360" cy="1107279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t" anchorCtr="0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🖥️ UX Operations</a:t>
            </a:r>
            <a:endParaRPr 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Fetch context-aware suggestions (autofill UX)</a:t>
            </a:r>
          </a:p>
          <a:p>
            <a:pPr algn="ctr"/>
            <a:endParaRPr lang="en-US" sz="9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completion/complete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70F12B8-09CB-7FAA-663D-7DA82AE7BBAA}"/>
              </a:ext>
            </a:extLst>
          </p:cNvPr>
          <p:cNvSpPr/>
          <p:nvPr/>
        </p:nvSpPr>
        <p:spPr>
          <a:xfrm>
            <a:off x="284120" y="4511218"/>
            <a:ext cx="1737360" cy="1107279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t" anchorCtr="0"/>
          <a:lstStyle/>
          <a:p>
            <a:pPr algn="ctr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🧩 </a:t>
            </a:r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Primitives Supported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server advertises the three primitives it supports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"resources", "tools", "completions" 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A2DF967-5A4F-468C-024A-221D960A597C}"/>
              </a:ext>
            </a:extLst>
          </p:cNvPr>
          <p:cNvSpPr/>
          <p:nvPr/>
        </p:nvSpPr>
        <p:spPr>
          <a:xfrm>
            <a:off x="2221500" y="4511217"/>
            <a:ext cx="1737360" cy="1107279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t" anchorCtr="0"/>
          <a:lstStyle/>
          <a:p>
            <a:pPr algn="ctr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🗂️ </a:t>
            </a:r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 Flags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Tells client if updates or pagination are available</a:t>
            </a:r>
          </a:p>
          <a:p>
            <a:pPr algn="ctr"/>
            <a:endParaRPr lang="en-US" sz="9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"subscribe","</a:t>
            </a:r>
            <a:r>
              <a:rPr lang="en-US" sz="9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listChanged</a:t>
            </a:r>
            <a:r>
              <a:rPr lang="en-US" sz="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BE376B0-8524-F852-6C8A-D776A5478953}"/>
              </a:ext>
            </a:extLst>
          </p:cNvPr>
          <p:cNvSpPr/>
          <p:nvPr/>
        </p:nvSpPr>
        <p:spPr>
          <a:xfrm>
            <a:off x="4158881" y="4495284"/>
            <a:ext cx="1737360" cy="1107279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t" anchorCtr="0"/>
          <a:lstStyle/>
          <a:p>
            <a:pPr algn="ctr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Safeguards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Make discovery safe - client only calls what’s declared</a:t>
            </a:r>
          </a:p>
          <a:p>
            <a:pPr algn="ctr"/>
            <a:endParaRPr lang="en-US" sz="9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Feature flags 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447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2C0F9-EB5F-3920-DB63-B0E9B374A1CE}"/>
              </a:ext>
            </a:extLst>
          </p:cNvPr>
          <p:cNvSpPr txBox="1">
            <a:spLocks/>
          </p:cNvSpPr>
          <p:nvPr/>
        </p:nvSpPr>
        <p:spPr>
          <a:xfrm>
            <a:off x="145473" y="24541"/>
            <a:ext cx="10515600" cy="318366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MCP Rollout Roadmap: Enterprise Architecture for MCP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6D8EC4-6568-A543-46C5-B40A15FF59B1}"/>
              </a:ext>
            </a:extLst>
          </p:cNvPr>
          <p:cNvSpPr/>
          <p:nvPr/>
        </p:nvSpPr>
        <p:spPr>
          <a:xfrm>
            <a:off x="145473" y="336932"/>
            <a:ext cx="11981872" cy="93186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Control Plane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F64C08-9B13-6151-1622-9D864E0FF352}"/>
              </a:ext>
            </a:extLst>
          </p:cNvPr>
          <p:cNvSpPr/>
          <p:nvPr/>
        </p:nvSpPr>
        <p:spPr>
          <a:xfrm>
            <a:off x="145473" y="1437490"/>
            <a:ext cx="11981872" cy="280714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Runtime Plane — Operational Flow of MCP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3A2AB2-AB86-4B87-2A77-9843A1E34D71}"/>
              </a:ext>
            </a:extLst>
          </p:cNvPr>
          <p:cNvSpPr/>
          <p:nvPr/>
        </p:nvSpPr>
        <p:spPr>
          <a:xfrm>
            <a:off x="145473" y="4404000"/>
            <a:ext cx="11981872" cy="84170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Platform Plane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D5AA2D-529C-0DFD-516D-4BC438D92CF9}"/>
              </a:ext>
            </a:extLst>
          </p:cNvPr>
          <p:cNvSpPr/>
          <p:nvPr/>
        </p:nvSpPr>
        <p:spPr>
          <a:xfrm>
            <a:off x="221962" y="612013"/>
            <a:ext cx="2842491" cy="44757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Identity &amp; Access✅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OAuth-style tokens, scopes, issuer verification (OIDC/OAuth), per-server access control.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7BF5F9-EB89-1A3A-D97E-55E9CBB8F55E}"/>
              </a:ext>
            </a:extLst>
          </p:cNvPr>
          <p:cNvSpPr/>
          <p:nvPr/>
        </p:nvSpPr>
        <p:spPr>
          <a:xfrm>
            <a:off x="3217430" y="612015"/>
            <a:ext cx="2842491" cy="44757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Policy &amp; Registry</a:t>
            </a:r>
            <a:r>
              <a:rPr lang="en-US" sz="1100" dirty="0"/>
              <a:t>➕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Capability allow-list, catalog of resources, tools, prompts, schema &amp; prompt versioning.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F1F881-85CD-9AC6-7AEA-312CDBA5664F}"/>
              </a:ext>
            </a:extLst>
          </p:cNvPr>
          <p:cNvSpPr/>
          <p:nvPr/>
        </p:nvSpPr>
        <p:spPr>
          <a:xfrm>
            <a:off x="6212898" y="612014"/>
            <a:ext cx="2842491" cy="44757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Observability &amp; Audit</a:t>
            </a:r>
            <a:r>
              <a:rPr lang="en-US" sz="1100" dirty="0"/>
              <a:t>✅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Tool call outcomes, progress logs, notifications, dashboards/SLOs, per-tenant audit.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CDDE61-2B7E-6CD0-991E-6478BBE04D37}"/>
              </a:ext>
            </a:extLst>
          </p:cNvPr>
          <p:cNvSpPr/>
          <p:nvPr/>
        </p:nvSpPr>
        <p:spPr>
          <a:xfrm>
            <a:off x="9208365" y="612015"/>
            <a:ext cx="2842491" cy="44757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Change Management</a:t>
            </a:r>
            <a:r>
              <a:rPr lang="en-US" sz="1100" dirty="0"/>
              <a:t>➕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Server versioning, broadcast list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Changed, deprecations &amp; rollout policy.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132396-9451-222A-B3AF-82A9872964BB}"/>
              </a:ext>
            </a:extLst>
          </p:cNvPr>
          <p:cNvSpPr/>
          <p:nvPr/>
        </p:nvSpPr>
        <p:spPr>
          <a:xfrm>
            <a:off x="293833" y="1703635"/>
            <a:ext cx="2651760" cy="228098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Consumers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B7C30F-CBD9-8B48-09C9-57626F8EA41B}"/>
              </a:ext>
            </a:extLst>
          </p:cNvPr>
          <p:cNvSpPr/>
          <p:nvPr/>
        </p:nvSpPr>
        <p:spPr>
          <a:xfrm>
            <a:off x="3289301" y="1703637"/>
            <a:ext cx="2651760" cy="228098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MCP Client Gateway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54BB40-5E41-5427-6871-3AC5C619B84F}"/>
              </a:ext>
            </a:extLst>
          </p:cNvPr>
          <p:cNvSpPr/>
          <p:nvPr/>
        </p:nvSpPr>
        <p:spPr>
          <a:xfrm>
            <a:off x="6284769" y="1703636"/>
            <a:ext cx="2651760" cy="228098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MCP Server Mesh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E22854-E26B-3042-6E39-CFA9144BD552}"/>
              </a:ext>
            </a:extLst>
          </p:cNvPr>
          <p:cNvSpPr/>
          <p:nvPr/>
        </p:nvSpPr>
        <p:spPr>
          <a:xfrm>
            <a:off x="9280236" y="1703637"/>
            <a:ext cx="2651760" cy="228098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Enterprise Systems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075584-FCD6-79E0-8A2D-9622B515CF8A}"/>
              </a:ext>
            </a:extLst>
          </p:cNvPr>
          <p:cNvSpPr/>
          <p:nvPr/>
        </p:nvSpPr>
        <p:spPr>
          <a:xfrm>
            <a:off x="334530" y="2119272"/>
            <a:ext cx="2547215" cy="72928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LLM Apps &amp; Agents</a:t>
            </a:r>
            <a:r>
              <a:rPr lang="en-US" sz="1100" dirty="0"/>
              <a:t>✅</a:t>
            </a:r>
            <a:endParaRPr lang="en-US" sz="11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Chat UIs, IDE copilots, batch agents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Always go through the Client Gateway (never direct to servers)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B9816E-200A-42B2-F8B4-9BBEF3ABB948}"/>
              </a:ext>
            </a:extLst>
          </p:cNvPr>
          <p:cNvSpPr/>
          <p:nvPr/>
        </p:nvSpPr>
        <p:spPr>
          <a:xfrm>
            <a:off x="334529" y="3114697"/>
            <a:ext cx="2547215" cy="72928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Human-in-the-Loop Console</a:t>
            </a:r>
            <a:r>
              <a:rPr lang="en-US" sz="1100" dirty="0"/>
              <a:t>✅</a:t>
            </a:r>
            <a:endParaRPr lang="en-US" sz="11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Approve risky actions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See progress &amp; structured results, everything is auditable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44839F-55DF-2A86-2E47-06E8B555128C}"/>
              </a:ext>
            </a:extLst>
          </p:cNvPr>
          <p:cNvSpPr/>
          <p:nvPr/>
        </p:nvSpPr>
        <p:spPr>
          <a:xfrm>
            <a:off x="3361603" y="1906444"/>
            <a:ext cx="2547215" cy="46545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Capability Negotiation</a:t>
            </a:r>
            <a:r>
              <a:rPr lang="en-US" sz="1100" dirty="0"/>
              <a:t>🧩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On connect, read what the server supports (resources, tools, prompts/completions)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6C64C5-1B85-CDBA-0581-8B9452A9B787}"/>
              </a:ext>
            </a:extLst>
          </p:cNvPr>
          <p:cNvSpPr/>
          <p:nvPr/>
        </p:nvSpPr>
        <p:spPr>
          <a:xfrm>
            <a:off x="3361603" y="2436242"/>
            <a:ext cx="2547215" cy="45159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Schema Guard</a:t>
            </a:r>
            <a:r>
              <a:rPr lang="en-US" sz="1100" dirty="0"/>
              <a:t>➕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Validate inputs before calling a tool (input schema)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Validate typed results after (output schema)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8880F7-C64B-49DD-26DC-C13924BFF2B0}"/>
              </a:ext>
            </a:extLst>
          </p:cNvPr>
          <p:cNvSpPr/>
          <p:nvPr/>
        </p:nvSpPr>
        <p:spPr>
          <a:xfrm>
            <a:off x="3361603" y="2952181"/>
            <a:ext cx="2547215" cy="451596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Context &amp; Prompts</a:t>
            </a:r>
            <a:r>
              <a:rPr lang="en-US" sz="1100" dirty="0"/>
              <a:t>🧩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List/read resources, list/get prompts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Lightweight autocompletions for prompt arguments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329739-2E85-CD14-8E4D-2EDEECA9AAF7}"/>
              </a:ext>
            </a:extLst>
          </p:cNvPr>
          <p:cNvSpPr/>
          <p:nvPr/>
        </p:nvSpPr>
        <p:spPr>
          <a:xfrm>
            <a:off x="3361603" y="3468121"/>
            <a:ext cx="2547215" cy="45159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Actions &amp; Updates</a:t>
            </a:r>
            <a:r>
              <a:rPr lang="en-US" sz="1100" dirty="0"/>
              <a:t>➕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Call tools, show progress,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Handle “list changed” and “resource updated”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E8336E-33D1-7952-ED8D-2617CD326BB7}"/>
              </a:ext>
            </a:extLst>
          </p:cNvPr>
          <p:cNvSpPr/>
          <p:nvPr/>
        </p:nvSpPr>
        <p:spPr>
          <a:xfrm>
            <a:off x="6320127" y="1906444"/>
            <a:ext cx="2547215" cy="61907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Resources (read-only context)</a:t>
            </a:r>
            <a:r>
              <a:rPr lang="en-US" sz="1100" dirty="0"/>
              <a:t> 🧩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File/Repo Resource Server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Docs/Config Resource Server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Data View Resource Server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98D741-7DAA-C1BA-4381-66168D045C0B}"/>
              </a:ext>
            </a:extLst>
          </p:cNvPr>
          <p:cNvSpPr/>
          <p:nvPr/>
        </p:nvSpPr>
        <p:spPr>
          <a:xfrm>
            <a:off x="6320127" y="2612617"/>
            <a:ext cx="2547215" cy="600643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Tools (Actions)</a:t>
            </a:r>
            <a:r>
              <a:rPr lang="en-US" sz="1100" dirty="0"/>
              <a:t> 🧩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Business API Tool Server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Ops/Automation Tool Server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Advanced Tooling(structured o/p)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EFF936-11A8-B511-4978-6F7F42761503}"/>
              </a:ext>
            </a:extLst>
          </p:cNvPr>
          <p:cNvSpPr/>
          <p:nvPr/>
        </p:nvSpPr>
        <p:spPr>
          <a:xfrm>
            <a:off x="6320127" y="3300355"/>
            <a:ext cx="2547215" cy="600644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Prompts &amp; Completions (reusable UX)</a:t>
            </a:r>
            <a:r>
              <a:rPr lang="en-US" sz="1100" dirty="0"/>
              <a:t> ➕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Prompt Catalog Server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Completion Provider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72F75B-EA11-934D-6571-F9282E42F0E2}"/>
              </a:ext>
            </a:extLst>
          </p:cNvPr>
          <p:cNvSpPr/>
          <p:nvPr/>
        </p:nvSpPr>
        <p:spPr>
          <a:xfrm>
            <a:off x="9315595" y="1906444"/>
            <a:ext cx="2547215" cy="46545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APIs &amp; Services</a:t>
            </a:r>
            <a:r>
              <a:rPr lang="en-US" sz="1100" dirty="0"/>
              <a:t>✅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CRM/ERP/Payments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18E777-57E9-D0B0-DA85-F756F4878D5B}"/>
              </a:ext>
            </a:extLst>
          </p:cNvPr>
          <p:cNvSpPr/>
          <p:nvPr/>
        </p:nvSpPr>
        <p:spPr>
          <a:xfrm>
            <a:off x="9315595" y="2436242"/>
            <a:ext cx="2547215" cy="45159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Data Stores</a:t>
            </a:r>
            <a:r>
              <a:rPr lang="en-US" sz="1100" dirty="0"/>
              <a:t>✅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SQL/NoSQL/Warehouse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B08AB7-89A2-73F1-9E10-AB59A5BAD08B}"/>
              </a:ext>
            </a:extLst>
          </p:cNvPr>
          <p:cNvSpPr/>
          <p:nvPr/>
        </p:nvSpPr>
        <p:spPr>
          <a:xfrm>
            <a:off x="9315595" y="2952181"/>
            <a:ext cx="2547215" cy="451596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Code &amp; Content</a:t>
            </a:r>
            <a:r>
              <a:rPr lang="en-US" sz="1100" dirty="0"/>
              <a:t>✅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Git/Docs/Object storage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17591F-728E-C45C-8DF7-9DFC815277AC}"/>
              </a:ext>
            </a:extLst>
          </p:cNvPr>
          <p:cNvSpPr/>
          <p:nvPr/>
        </p:nvSpPr>
        <p:spPr>
          <a:xfrm>
            <a:off x="9315595" y="3468121"/>
            <a:ext cx="2547215" cy="45159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Operations</a:t>
            </a:r>
            <a:r>
              <a:rPr lang="en-US" sz="1100" dirty="0"/>
              <a:t>✅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Schedulers/Ticketing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53ECDA-9BCF-BC23-372F-F7E7F0E4E054}"/>
              </a:ext>
            </a:extLst>
          </p:cNvPr>
          <p:cNvSpPr/>
          <p:nvPr/>
        </p:nvSpPr>
        <p:spPr>
          <a:xfrm>
            <a:off x="217634" y="4644953"/>
            <a:ext cx="2247612" cy="39396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Transport ingress </a:t>
            </a:r>
            <a:r>
              <a:rPr lang="en-US" sz="900" dirty="0"/>
              <a:t>✅</a:t>
            </a:r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prefer </a:t>
            </a:r>
            <a:r>
              <a:rPr lang="en-US" sz="900" dirty="0" err="1">
                <a:solidFill>
                  <a:schemeClr val="tx1"/>
                </a:solidFill>
              </a:rPr>
              <a:t>Streamable</a:t>
            </a:r>
            <a:r>
              <a:rPr lang="en-US" sz="900" dirty="0">
                <a:solidFill>
                  <a:schemeClr val="tx1"/>
                </a:solidFill>
              </a:rPr>
              <a:t> HTTP, SSE optional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7371EE-5F31-038C-9475-0401C2ADC6D6}"/>
              </a:ext>
            </a:extLst>
          </p:cNvPr>
          <p:cNvSpPr/>
          <p:nvPr/>
        </p:nvSpPr>
        <p:spPr>
          <a:xfrm>
            <a:off x="2612954" y="4644953"/>
            <a:ext cx="2247612" cy="39396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API gateway</a:t>
            </a:r>
            <a:r>
              <a:rPr lang="en-US" sz="1100" dirty="0"/>
              <a:t>✅</a:t>
            </a:r>
            <a:endParaRPr lang="en-US" sz="1100" dirty="0">
              <a:solidFill>
                <a:schemeClr val="tx1"/>
              </a:solidFill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Routing to multiple MCP servers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9B53F6-DD04-08BF-8B52-634AACAC49A6}"/>
              </a:ext>
            </a:extLst>
          </p:cNvPr>
          <p:cNvSpPr/>
          <p:nvPr/>
        </p:nvSpPr>
        <p:spPr>
          <a:xfrm>
            <a:off x="5008274" y="4644954"/>
            <a:ext cx="2247612" cy="39396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Secrets/KMS </a:t>
            </a:r>
            <a:r>
              <a:rPr lang="en-US" sz="1100" dirty="0"/>
              <a:t>✅</a:t>
            </a:r>
            <a:endParaRPr lang="en-US" sz="1100" dirty="0">
              <a:solidFill>
                <a:schemeClr val="tx1"/>
              </a:solidFill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For server credentials and rotation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52B94-C14F-2DF4-3CB2-F7D57858693F}"/>
              </a:ext>
            </a:extLst>
          </p:cNvPr>
          <p:cNvSpPr/>
          <p:nvPr/>
        </p:nvSpPr>
        <p:spPr>
          <a:xfrm>
            <a:off x="7403594" y="4644952"/>
            <a:ext cx="2247612" cy="39396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Event bus (e.g., Kafka/NATS)</a:t>
            </a:r>
            <a:r>
              <a:rPr lang="en-US" sz="1100" dirty="0"/>
              <a:t>✅</a:t>
            </a:r>
            <a:endParaRPr lang="en-US" sz="1100" dirty="0">
              <a:solidFill>
                <a:schemeClr val="tx1"/>
              </a:solidFill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For change notifications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C6E6E4-D82E-6356-9121-DBA97AC677CC}"/>
              </a:ext>
            </a:extLst>
          </p:cNvPr>
          <p:cNvSpPr/>
          <p:nvPr/>
        </p:nvSpPr>
        <p:spPr>
          <a:xfrm>
            <a:off x="9798915" y="4644951"/>
            <a:ext cx="2247612" cy="39396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CI/CD &amp; contract tests</a:t>
            </a:r>
            <a:r>
              <a:rPr lang="en-US" sz="1100" dirty="0"/>
              <a:t>➕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schemas, invalid-param cases, perf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CDFEA1-9345-55B9-8161-8FBA02AF0371}"/>
              </a:ext>
            </a:extLst>
          </p:cNvPr>
          <p:cNvSpPr txBox="1"/>
          <p:nvPr/>
        </p:nvSpPr>
        <p:spPr>
          <a:xfrm>
            <a:off x="217633" y="1130299"/>
            <a:ext cx="319157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900" b="1" dirty="0"/>
              <a:t>Governance, policy, identity, and registry. Controls what and who.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8CC390-5253-855A-5D6F-017533990619}"/>
              </a:ext>
            </a:extLst>
          </p:cNvPr>
          <p:cNvSpPr txBox="1"/>
          <p:nvPr/>
        </p:nvSpPr>
        <p:spPr>
          <a:xfrm>
            <a:off x="217633" y="4040872"/>
            <a:ext cx="389048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900" b="1" dirty="0"/>
              <a:t>The active execution and data flow path. Handles how MCP operates day-to-day.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E83EDA-71FE-3A40-D0B9-2AF0C9D9793F}"/>
              </a:ext>
            </a:extLst>
          </p:cNvPr>
          <p:cNvSpPr txBox="1"/>
          <p:nvPr/>
        </p:nvSpPr>
        <p:spPr>
          <a:xfrm>
            <a:off x="217633" y="5084204"/>
            <a:ext cx="3625993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900" b="1" dirty="0"/>
              <a:t>The infrastructure &amp; platform capabilities that support runtime operations.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1F82059-A2B9-60EA-7C31-7EC462F83665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2945593" y="2844129"/>
            <a:ext cx="343708" cy="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B771E0B-AF34-EF08-F1C8-0926F6DB33CE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5941061" y="2844130"/>
            <a:ext cx="343708" cy="1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1327C45-AAAD-3852-C496-5570722F9A18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8936529" y="2844130"/>
            <a:ext cx="343707" cy="1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DEFBFB65-2DFF-8663-1FC3-E7F152B3901E}"/>
              </a:ext>
            </a:extLst>
          </p:cNvPr>
          <p:cNvCxnSpPr>
            <a:stCxn id="3" idx="2"/>
            <a:endCxn id="12" idx="0"/>
          </p:cNvCxnSpPr>
          <p:nvPr/>
        </p:nvCxnSpPr>
        <p:spPr>
          <a:xfrm rot="5400000">
            <a:off x="5158376" y="725603"/>
            <a:ext cx="434839" cy="1521228"/>
          </a:xfrm>
          <a:prstGeom prst="bentConnector3">
            <a:avLst/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7960B4E1-ECF5-B3CD-EDA6-ADCAD396CC66}"/>
              </a:ext>
            </a:extLst>
          </p:cNvPr>
          <p:cNvCxnSpPr>
            <a:cxnSpLocks/>
            <a:stCxn id="3" idx="2"/>
            <a:endCxn id="13" idx="0"/>
          </p:cNvCxnSpPr>
          <p:nvPr/>
        </p:nvCxnSpPr>
        <p:spPr>
          <a:xfrm rot="16200000" flipH="1">
            <a:off x="6656110" y="749097"/>
            <a:ext cx="434838" cy="1474240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281DC4F-68BC-B3DE-7BDF-D8F13082BDF6}"/>
              </a:ext>
            </a:extLst>
          </p:cNvPr>
          <p:cNvSpPr txBox="1"/>
          <p:nvPr/>
        </p:nvSpPr>
        <p:spPr>
          <a:xfrm>
            <a:off x="6212898" y="1281144"/>
            <a:ext cx="98584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900" dirty="0"/>
              <a:t>auth, policy, registry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280D9B24-6E9E-0B43-B584-4150338A7032}"/>
              </a:ext>
            </a:extLst>
          </p:cNvPr>
          <p:cNvCxnSpPr>
            <a:cxnSpLocks/>
            <a:stCxn id="5" idx="0"/>
            <a:endCxn id="12" idx="2"/>
          </p:cNvCxnSpPr>
          <p:nvPr/>
        </p:nvCxnSpPr>
        <p:spPr>
          <a:xfrm rot="16200000" flipV="1">
            <a:off x="5166107" y="3433698"/>
            <a:ext cx="419376" cy="1521228"/>
          </a:xfrm>
          <a:prstGeom prst="bentConnector3">
            <a:avLst/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FEEDDAD5-42AD-E8B7-2CC5-E945B75F771D}"/>
              </a:ext>
            </a:extLst>
          </p:cNvPr>
          <p:cNvCxnSpPr>
            <a:cxnSpLocks/>
            <a:stCxn id="5" idx="0"/>
            <a:endCxn id="13" idx="2"/>
          </p:cNvCxnSpPr>
          <p:nvPr/>
        </p:nvCxnSpPr>
        <p:spPr>
          <a:xfrm rot="5400000" flipH="1" flipV="1">
            <a:off x="6663841" y="3457192"/>
            <a:ext cx="419377" cy="1474240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8B11DBD4-D10A-8CE5-64FA-5686A3439980}"/>
              </a:ext>
            </a:extLst>
          </p:cNvPr>
          <p:cNvSpPr txBox="1"/>
          <p:nvPr/>
        </p:nvSpPr>
        <p:spPr>
          <a:xfrm>
            <a:off x="6212898" y="4274832"/>
            <a:ext cx="14715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900" dirty="0"/>
              <a:t>transport, secrets, events, tests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396B57D-E34F-0837-5F7C-55812ED29483}"/>
              </a:ext>
            </a:extLst>
          </p:cNvPr>
          <p:cNvSpPr/>
          <p:nvPr/>
        </p:nvSpPr>
        <p:spPr>
          <a:xfrm>
            <a:off x="145473" y="5772027"/>
            <a:ext cx="11981872" cy="93186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MCP Implementation Maturity Phases</a:t>
            </a:r>
          </a:p>
        </p:txBody>
      </p:sp>
      <p:sp>
        <p:nvSpPr>
          <p:cNvPr id="63" name="Arrow: Pentagon 62">
            <a:extLst>
              <a:ext uri="{FF2B5EF4-FFF2-40B4-BE49-F238E27FC236}">
                <a16:creationId xmlns:a16="http://schemas.microsoft.com/office/drawing/2014/main" id="{2F2D267B-EB18-ECA4-4281-DED1E3EDEF79}"/>
              </a:ext>
            </a:extLst>
          </p:cNvPr>
          <p:cNvSpPr/>
          <p:nvPr/>
        </p:nvSpPr>
        <p:spPr>
          <a:xfrm>
            <a:off x="221962" y="5991122"/>
            <a:ext cx="2842491" cy="604592"/>
          </a:xfrm>
          <a:prstGeom prst="homePlate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Phase-1: Resources first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Ship 3-5 priority data sources as read-only resources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Paging &amp; change notifications working end-to-end</a:t>
            </a:r>
          </a:p>
        </p:txBody>
      </p:sp>
      <p:sp>
        <p:nvSpPr>
          <p:cNvPr id="64" name="Arrow: Pentagon 63">
            <a:extLst>
              <a:ext uri="{FF2B5EF4-FFF2-40B4-BE49-F238E27FC236}">
                <a16:creationId xmlns:a16="http://schemas.microsoft.com/office/drawing/2014/main" id="{DA5C8C4D-6091-8160-F506-F100FDDB7BBF}"/>
              </a:ext>
            </a:extLst>
          </p:cNvPr>
          <p:cNvSpPr/>
          <p:nvPr/>
        </p:nvSpPr>
        <p:spPr>
          <a:xfrm>
            <a:off x="3217430" y="5991124"/>
            <a:ext cx="2842491" cy="604592"/>
          </a:xfrm>
          <a:prstGeom prst="homePlate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Phase2 - Tools next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Add 2-3 high-value actions with input/output schemas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Human approval for risky calls, errors &amp; progress are visible</a:t>
            </a:r>
          </a:p>
        </p:txBody>
      </p:sp>
      <p:sp>
        <p:nvSpPr>
          <p:cNvPr id="65" name="Arrow: Pentagon 64">
            <a:extLst>
              <a:ext uri="{FF2B5EF4-FFF2-40B4-BE49-F238E27FC236}">
                <a16:creationId xmlns:a16="http://schemas.microsoft.com/office/drawing/2014/main" id="{366CDDA0-B8AC-1082-080A-58B8B818E005}"/>
              </a:ext>
            </a:extLst>
          </p:cNvPr>
          <p:cNvSpPr/>
          <p:nvPr/>
        </p:nvSpPr>
        <p:spPr>
          <a:xfrm>
            <a:off x="6212898" y="5991123"/>
            <a:ext cx="2842491" cy="604592"/>
          </a:xfrm>
          <a:prstGeom prst="homePlate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Phase3 - Prompts &amp; Completions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Central prompt catalog, context-aware argument fills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Fewer manual inputs in day-to-day usage</a:t>
            </a:r>
          </a:p>
        </p:txBody>
      </p:sp>
      <p:sp>
        <p:nvSpPr>
          <p:cNvPr id="66" name="Arrow: Pentagon 65">
            <a:extLst>
              <a:ext uri="{FF2B5EF4-FFF2-40B4-BE49-F238E27FC236}">
                <a16:creationId xmlns:a16="http://schemas.microsoft.com/office/drawing/2014/main" id="{09249910-EF69-4F15-6653-276B70C230D2}"/>
              </a:ext>
            </a:extLst>
          </p:cNvPr>
          <p:cNvSpPr/>
          <p:nvPr/>
        </p:nvSpPr>
        <p:spPr>
          <a:xfrm>
            <a:off x="9208365" y="5991124"/>
            <a:ext cx="2842491" cy="604592"/>
          </a:xfrm>
          <a:prstGeom prst="homePlate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Phase4 - Secure • Govern • Observe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Scopes/tenancy, policy allow-list, rate limits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Dashboards, audits, SLOs, server versioning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2F3575E-7E43-5215-B981-AD9754322A7A}"/>
              </a:ext>
            </a:extLst>
          </p:cNvPr>
          <p:cNvSpPr txBox="1"/>
          <p:nvPr/>
        </p:nvSpPr>
        <p:spPr>
          <a:xfrm>
            <a:off x="145473" y="5351260"/>
            <a:ext cx="5312352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b="1" dirty="0"/>
              <a:t>✅ Reused:  As-is from existing Agentic AI Architecture</a:t>
            </a:r>
          </a:p>
          <a:p>
            <a:r>
              <a:rPr lang="en-US" sz="900" b="1" dirty="0"/>
              <a:t>➕ Extended: Requires addition of a small MCP feature/config) in existing Agentic AI Architecture </a:t>
            </a:r>
          </a:p>
          <a:p>
            <a:r>
              <a:rPr lang="en-US" sz="900" b="1" dirty="0"/>
              <a:t>🧩 Wrap: Requires thin MCP facade over what you already have in existing Agentic AI Architecture </a:t>
            </a:r>
          </a:p>
        </p:txBody>
      </p:sp>
    </p:spTree>
    <p:extLst>
      <p:ext uri="{BB962C8B-B14F-4D97-AF65-F5344CB8AC3E}">
        <p14:creationId xmlns:p14="http://schemas.microsoft.com/office/powerpoint/2010/main" val="2090983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04E79-9B94-C2DF-CA8A-C15E5D01C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73" y="24541"/>
            <a:ext cx="10515600" cy="318366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How MCP Works: The Protocol in Action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0DCAD4-A043-84EC-4784-07F98729FAD4}"/>
              </a:ext>
            </a:extLst>
          </p:cNvPr>
          <p:cNvSpPr/>
          <p:nvPr/>
        </p:nvSpPr>
        <p:spPr>
          <a:xfrm>
            <a:off x="412172" y="1018960"/>
            <a:ext cx="1371600" cy="731520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🌱 Initialization</a:t>
            </a:r>
          </a:p>
          <a:p>
            <a:pPr algn="ctr"/>
            <a:r>
              <a:rPr lang="en-US" sz="900" b="1" dirty="0">
                <a:solidFill>
                  <a:srgbClr val="00B0F0"/>
                </a:solidFill>
              </a:rPr>
              <a:t>illustrate how connection and negotiation bootstrap trust.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5BE9A9-01AD-500C-6C64-1B9F4FEACE8B}"/>
              </a:ext>
            </a:extLst>
          </p:cNvPr>
          <p:cNvSpPr/>
          <p:nvPr/>
        </p:nvSpPr>
        <p:spPr>
          <a:xfrm>
            <a:off x="412172" y="1885529"/>
            <a:ext cx="1371600" cy="1005840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 💡 Discovery</a:t>
            </a:r>
          </a:p>
          <a:p>
            <a:pPr algn="ctr"/>
            <a:r>
              <a:rPr lang="en-US" sz="900" b="1" dirty="0">
                <a:solidFill>
                  <a:srgbClr val="00B0F0"/>
                </a:solidFill>
              </a:rPr>
              <a:t>Map everything the LLM can see</a:t>
            </a:r>
          </a:p>
          <a:p>
            <a:pPr algn="ctr"/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267D35-5CAD-6744-66D9-C8DF2050AFFB}"/>
              </a:ext>
            </a:extLst>
          </p:cNvPr>
          <p:cNvSpPr/>
          <p:nvPr/>
        </p:nvSpPr>
        <p:spPr>
          <a:xfrm>
            <a:off x="412172" y="3026418"/>
            <a:ext cx="1371600" cy="822960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📌 Context Access</a:t>
            </a:r>
          </a:p>
          <a:p>
            <a:pPr algn="ctr"/>
            <a:r>
              <a:rPr lang="en-US" sz="900" b="1" dirty="0">
                <a:solidFill>
                  <a:srgbClr val="00B0F0"/>
                </a:solidFill>
              </a:rPr>
              <a:t>Show reading structured context &amp; reusing prompts</a:t>
            </a:r>
          </a:p>
          <a:p>
            <a:pPr algn="ctr"/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0F1FFF-0326-BB22-764D-BA625FEEF68C}"/>
              </a:ext>
            </a:extLst>
          </p:cNvPr>
          <p:cNvSpPr/>
          <p:nvPr/>
        </p:nvSpPr>
        <p:spPr>
          <a:xfrm>
            <a:off x="412172" y="3984427"/>
            <a:ext cx="1371600" cy="822960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🎯 Action</a:t>
            </a:r>
          </a:p>
          <a:p>
            <a:pPr algn="ctr"/>
            <a:r>
              <a:rPr lang="en-US" sz="900" b="1" dirty="0">
                <a:solidFill>
                  <a:srgbClr val="00B0F0"/>
                </a:solidFill>
              </a:rPr>
              <a:t>The execution heart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09151B-ADE4-E86A-564C-6F3451BF05CE}"/>
              </a:ext>
            </a:extLst>
          </p:cNvPr>
          <p:cNvSpPr/>
          <p:nvPr/>
        </p:nvSpPr>
        <p:spPr>
          <a:xfrm>
            <a:off x="412173" y="4942436"/>
            <a:ext cx="1371600" cy="914400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🔔 Updates + Paging</a:t>
            </a:r>
          </a:p>
          <a:p>
            <a:pPr algn="ctr"/>
            <a:r>
              <a:rPr lang="en-US" sz="900" b="1" dirty="0">
                <a:solidFill>
                  <a:srgbClr val="00B0F0"/>
                </a:solidFill>
              </a:rPr>
              <a:t>How updates flow 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09E1C7-53F3-ADBF-5517-AFD04FBACEEB}"/>
              </a:ext>
            </a:extLst>
          </p:cNvPr>
          <p:cNvSpPr/>
          <p:nvPr/>
        </p:nvSpPr>
        <p:spPr>
          <a:xfrm>
            <a:off x="412172" y="5991883"/>
            <a:ext cx="1371600" cy="640080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Safety &amp; Governance</a:t>
            </a:r>
          </a:p>
          <a:p>
            <a:pPr algn="ctr"/>
            <a:r>
              <a:rPr lang="en-US" sz="900" b="1" dirty="0">
                <a:solidFill>
                  <a:srgbClr val="00B0F0"/>
                </a:solidFill>
              </a:rPr>
              <a:t>Enforce production-grade control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CC39F-4690-4CDF-05AE-5672745A3DEA}"/>
              </a:ext>
            </a:extLst>
          </p:cNvPr>
          <p:cNvSpPr/>
          <p:nvPr/>
        </p:nvSpPr>
        <p:spPr>
          <a:xfrm>
            <a:off x="1885754" y="627463"/>
            <a:ext cx="1097280" cy="318366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🤖 LLM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5A087-5A08-7765-44BE-74C7D7591B6D}"/>
              </a:ext>
            </a:extLst>
          </p:cNvPr>
          <p:cNvSpPr/>
          <p:nvPr/>
        </p:nvSpPr>
        <p:spPr>
          <a:xfrm>
            <a:off x="3091290" y="627465"/>
            <a:ext cx="3291840" cy="318366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💻 MCP Client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77422A-B533-7304-4C35-E790A4240E83}"/>
              </a:ext>
            </a:extLst>
          </p:cNvPr>
          <p:cNvSpPr/>
          <p:nvPr/>
        </p:nvSpPr>
        <p:spPr>
          <a:xfrm>
            <a:off x="6483928" y="627465"/>
            <a:ext cx="4136738" cy="318366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🌐 MCP Server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21663C-8280-880E-3DBC-F6E123EA2505}"/>
              </a:ext>
            </a:extLst>
          </p:cNvPr>
          <p:cNvSpPr/>
          <p:nvPr/>
        </p:nvSpPr>
        <p:spPr>
          <a:xfrm>
            <a:off x="10748818" y="627465"/>
            <a:ext cx="1280160" cy="318366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🏢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Enterprise Systems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74A6DB-9CD3-5306-B7B3-7CECC037EDF0}"/>
              </a:ext>
            </a:extLst>
          </p:cNvPr>
          <p:cNvSpPr/>
          <p:nvPr/>
        </p:nvSpPr>
        <p:spPr>
          <a:xfrm>
            <a:off x="1893569" y="1019657"/>
            <a:ext cx="1097280" cy="73152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No direct network → uses only declared client ops.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2A6D4D-D3DD-13A5-65C8-E103BBB18B65}"/>
              </a:ext>
            </a:extLst>
          </p:cNvPr>
          <p:cNvSpPr/>
          <p:nvPr/>
        </p:nvSpPr>
        <p:spPr>
          <a:xfrm>
            <a:off x="3100646" y="1020354"/>
            <a:ext cx="3291840" cy="73152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📡 </a:t>
            </a:r>
            <a:r>
              <a:rPr lang="en-US" sz="1000" b="1" dirty="0">
                <a:solidFill>
                  <a:schemeClr val="tx1"/>
                </a:solidFill>
              </a:rPr>
              <a:t>Initialize session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/>
                </a:solidFill>
              </a:rPr>
              <a:t>Initialize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b="1" dirty="0">
                <a:solidFill>
                  <a:schemeClr val="tx1"/>
                </a:solidFill>
              </a:rPr>
              <a:t>session</a:t>
            </a:r>
            <a:r>
              <a:rPr lang="en-US" sz="1000" dirty="0">
                <a:solidFill>
                  <a:schemeClr val="tx1"/>
                </a:solidFill>
              </a:rPr>
              <a:t> (JSON-RPC 2.0 over </a:t>
            </a:r>
            <a:r>
              <a:rPr lang="en-US" sz="1000" dirty="0" err="1">
                <a:solidFill>
                  <a:schemeClr val="tx1"/>
                </a:solidFill>
              </a:rPr>
              <a:t>stdio</a:t>
            </a:r>
            <a:r>
              <a:rPr lang="en-US" sz="1000" dirty="0">
                <a:solidFill>
                  <a:schemeClr val="tx1"/>
                </a:solidFill>
              </a:rPr>
              <a:t> / </a:t>
            </a:r>
            <a:r>
              <a:rPr lang="en-US" sz="1000" dirty="0" err="1">
                <a:solidFill>
                  <a:schemeClr val="tx1"/>
                </a:solidFill>
              </a:rPr>
              <a:t>Streamable</a:t>
            </a:r>
            <a:r>
              <a:rPr lang="en-US" sz="1000" dirty="0">
                <a:solidFill>
                  <a:schemeClr val="tx1"/>
                </a:solidFill>
              </a:rPr>
              <a:t> HTTP / SSE).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Receives </a:t>
            </a:r>
            <a:r>
              <a:rPr lang="en-US" sz="1000" b="1" dirty="0">
                <a:solidFill>
                  <a:schemeClr val="tx1"/>
                </a:solidFill>
              </a:rPr>
              <a:t>capabilities</a:t>
            </a:r>
            <a:r>
              <a:rPr lang="en-US" sz="1000" dirty="0">
                <a:solidFill>
                  <a:schemeClr val="tx1"/>
                </a:solidFill>
              </a:rPr>
              <a:t>, caches and enforces </a:t>
            </a:r>
            <a:r>
              <a:rPr lang="en-US" sz="1000" b="1" dirty="0">
                <a:solidFill>
                  <a:schemeClr val="tx1"/>
                </a:solidFill>
              </a:rPr>
              <a:t>“only declared ops.</a:t>
            </a:r>
            <a:r>
              <a:rPr lang="en-US" sz="10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604732-9CC1-4CF8-FA3D-F5C038FB6478}"/>
              </a:ext>
            </a:extLst>
          </p:cNvPr>
          <p:cNvSpPr/>
          <p:nvPr/>
        </p:nvSpPr>
        <p:spPr>
          <a:xfrm>
            <a:off x="6502283" y="1021749"/>
            <a:ext cx="4136738" cy="73152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🧭 </a:t>
            </a:r>
            <a:r>
              <a:rPr lang="en-US" sz="1000" b="1" dirty="0">
                <a:solidFill>
                  <a:schemeClr val="tx1"/>
                </a:solidFill>
              </a:rPr>
              <a:t>Declare capabilities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Declare capabilities (JSON-RPC </a:t>
            </a:r>
            <a:r>
              <a:rPr lang="en-US" sz="1000" dirty="0" err="1">
                <a:solidFill>
                  <a:schemeClr val="tx1"/>
                </a:solidFill>
                <a:cs typeface="Arial" panose="020B0604020202020204" pitchFamily="34" charset="0"/>
              </a:rPr>
              <a:t>init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 result).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Advertise: </a:t>
            </a:r>
            <a:r>
              <a:rPr lang="en-US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resources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en-US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tools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en-US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completions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 (and </a:t>
            </a:r>
            <a:r>
              <a:rPr lang="en-US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prompts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, if supported).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Feature flags: </a:t>
            </a:r>
            <a:r>
              <a:rPr lang="en-US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subscribe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en-US" sz="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listChanged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B055B1-F9B7-074C-3495-1400438D0525}"/>
              </a:ext>
            </a:extLst>
          </p:cNvPr>
          <p:cNvSpPr/>
          <p:nvPr/>
        </p:nvSpPr>
        <p:spPr>
          <a:xfrm>
            <a:off x="10748817" y="1021051"/>
            <a:ext cx="1280160" cy="73152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No calls yet-only session bring-up.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AAE9CB-95CA-4C5F-DB93-773F4FE2C91A}"/>
              </a:ext>
            </a:extLst>
          </p:cNvPr>
          <p:cNvSpPr/>
          <p:nvPr/>
        </p:nvSpPr>
        <p:spPr>
          <a:xfrm>
            <a:off x="1893569" y="1887605"/>
            <a:ext cx="1097280" cy="100584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Asks: what data/actions exist?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C22142-35CD-72D1-F425-61899599C3B4}"/>
              </a:ext>
            </a:extLst>
          </p:cNvPr>
          <p:cNvSpPr/>
          <p:nvPr/>
        </p:nvSpPr>
        <p:spPr>
          <a:xfrm>
            <a:off x="3100646" y="1886567"/>
            <a:ext cx="3291840" cy="100584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👀 Discover surfaces</a:t>
            </a:r>
          </a:p>
          <a:p>
            <a:r>
              <a:rPr lang="en-US" sz="1000" dirty="0">
                <a:solidFill>
                  <a:schemeClr val="tx1"/>
                </a:solidFill>
              </a:rPr>
              <a:t>Issues following requests to server and maintains discovery cache (with cursors)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resources/list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tools/list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prompts/list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resources/templates/list</a:t>
            </a:r>
          </a:p>
          <a:p>
            <a:endParaRPr lang="en-US" sz="1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DF3C61-2FF8-80A0-58D3-8784A6FD6773}"/>
              </a:ext>
            </a:extLst>
          </p:cNvPr>
          <p:cNvSpPr/>
          <p:nvPr/>
        </p:nvSpPr>
        <p:spPr>
          <a:xfrm>
            <a:off x="6502283" y="1889680"/>
            <a:ext cx="4136738" cy="100584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↩️ Return catalogs</a:t>
            </a:r>
          </a:p>
          <a:p>
            <a:r>
              <a:rPr lang="en-US" sz="1000" dirty="0">
                <a:solidFill>
                  <a:schemeClr val="tx1"/>
                </a:solidFill>
              </a:rPr>
              <a:t>Return catalogs (arrays):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chemeClr val="tx1"/>
                </a:solidFill>
              </a:rPr>
              <a:t>Resources</a:t>
            </a:r>
            <a:r>
              <a:rPr lang="en-US" sz="900" dirty="0">
                <a:solidFill>
                  <a:schemeClr val="tx1"/>
                </a:solidFill>
              </a:rPr>
              <a:t> (URI, name, annotations)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chemeClr val="tx1"/>
                </a:solidFill>
              </a:rPr>
              <a:t>Tools</a:t>
            </a:r>
            <a:r>
              <a:rPr lang="en-US" sz="900" dirty="0">
                <a:solidFill>
                  <a:schemeClr val="tx1"/>
                </a:solidFill>
              </a:rPr>
              <a:t> (name, </a:t>
            </a:r>
            <a:r>
              <a:rPr lang="en-US" sz="900" dirty="0" err="1">
                <a:solidFill>
                  <a:schemeClr val="tx1"/>
                </a:solidFill>
              </a:rPr>
              <a:t>inputSchema</a:t>
            </a:r>
            <a:r>
              <a:rPr lang="en-US" sz="900" dirty="0">
                <a:solidFill>
                  <a:schemeClr val="tx1"/>
                </a:solidFill>
              </a:rPr>
              <a:t>, </a:t>
            </a:r>
            <a:r>
              <a:rPr lang="en-US" sz="900" dirty="0" err="1">
                <a:solidFill>
                  <a:schemeClr val="tx1"/>
                </a:solidFill>
              </a:rPr>
              <a:t>outputSchema</a:t>
            </a:r>
            <a:r>
              <a:rPr lang="en-US" sz="900" dirty="0">
                <a:solidFill>
                  <a:schemeClr val="tx1"/>
                </a:solidFill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chemeClr val="tx1"/>
                </a:solidFill>
              </a:rPr>
              <a:t>Resource</a:t>
            </a:r>
            <a:r>
              <a:rPr lang="en-US" sz="900" dirty="0">
                <a:solidFill>
                  <a:schemeClr val="tx1"/>
                </a:solidFill>
              </a:rPr>
              <a:t> </a:t>
            </a:r>
            <a:r>
              <a:rPr lang="en-US" sz="900" b="1" dirty="0">
                <a:solidFill>
                  <a:schemeClr val="tx1"/>
                </a:solidFill>
              </a:rPr>
              <a:t>templates</a:t>
            </a:r>
            <a:r>
              <a:rPr lang="en-US" sz="900" dirty="0">
                <a:solidFill>
                  <a:schemeClr val="tx1"/>
                </a:solidFill>
              </a:rPr>
              <a:t> (URI templates)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chemeClr val="tx1"/>
                </a:solidFill>
              </a:rPr>
              <a:t>Prompts</a:t>
            </a:r>
          </a:p>
          <a:p>
            <a:r>
              <a:rPr lang="en-US" sz="1000" dirty="0">
                <a:solidFill>
                  <a:schemeClr val="tx1"/>
                </a:solidFill>
              </a:rPr>
              <a:t>If paginated → include </a:t>
            </a:r>
            <a:r>
              <a:rPr lang="en-US" sz="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nextCursor</a:t>
            </a:r>
            <a:r>
              <a:rPr lang="en-US" sz="1000" dirty="0">
                <a:solidFill>
                  <a:schemeClr val="tx1"/>
                </a:solidFill>
              </a:rPr>
              <a:t>.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D4FCC6-E9E0-7041-FD75-5DD06B7AEC94}"/>
              </a:ext>
            </a:extLst>
          </p:cNvPr>
          <p:cNvSpPr/>
          <p:nvPr/>
        </p:nvSpPr>
        <p:spPr>
          <a:xfrm>
            <a:off x="10748817" y="1888643"/>
            <a:ext cx="1280160" cy="100584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Maps resource URIs → internal stores (e.g., </a:t>
            </a:r>
            <a:r>
              <a:rPr lang="en-US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git://, file://, https://)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ED1AB5-A238-8A18-4B20-C8E95433FCC8}"/>
              </a:ext>
            </a:extLst>
          </p:cNvPr>
          <p:cNvSpPr/>
          <p:nvPr/>
        </p:nvSpPr>
        <p:spPr>
          <a:xfrm>
            <a:off x="1893569" y="3029174"/>
            <a:ext cx="1097280" cy="82296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Requests content and prompt completions.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AFF7A2-8C0E-AE29-EC20-57993813A0FA}"/>
              </a:ext>
            </a:extLst>
          </p:cNvPr>
          <p:cNvSpPr/>
          <p:nvPr/>
        </p:nvSpPr>
        <p:spPr>
          <a:xfrm>
            <a:off x="3100646" y="3027796"/>
            <a:ext cx="3291840" cy="82296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✨ Read + Compose</a:t>
            </a:r>
          </a:p>
          <a:p>
            <a:r>
              <a:rPr lang="en-US" sz="1000" dirty="0">
                <a:solidFill>
                  <a:schemeClr val="tx1"/>
                </a:solidFill>
              </a:rPr>
              <a:t>Read context get prompt messages, autocomplete </a:t>
            </a:r>
            <a:r>
              <a:rPr lang="en-US" sz="1000" dirty="0" err="1">
                <a:solidFill>
                  <a:schemeClr val="tx1"/>
                </a:solidFill>
              </a:rPr>
              <a:t>args</a:t>
            </a: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resources/read</a:t>
            </a:r>
            <a:r>
              <a:rPr lang="en-US" sz="1000" dirty="0">
                <a:solidFill>
                  <a:schemeClr val="tx1"/>
                </a:solidFill>
              </a:rPr>
              <a:t> → get context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prompts/get</a:t>
            </a:r>
            <a:r>
              <a:rPr lang="en-US" sz="1000" dirty="0">
                <a:solidFill>
                  <a:schemeClr val="tx1"/>
                </a:solidFill>
              </a:rPr>
              <a:t> → structured messages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completion/complete</a:t>
            </a:r>
            <a:r>
              <a:rPr lang="en-US" sz="1000" dirty="0">
                <a:solidFill>
                  <a:schemeClr val="tx1"/>
                </a:solidFill>
              </a:rPr>
              <a:t> → </a:t>
            </a:r>
            <a:r>
              <a:rPr lang="en-US" sz="1000" dirty="0" err="1">
                <a:solidFill>
                  <a:schemeClr val="tx1"/>
                </a:solidFill>
              </a:rPr>
              <a:t>arg</a:t>
            </a:r>
            <a:r>
              <a:rPr lang="en-US" sz="1000" dirty="0">
                <a:solidFill>
                  <a:schemeClr val="tx1"/>
                </a:solidFill>
              </a:rPr>
              <a:t> autocomplete</a:t>
            </a:r>
            <a:endParaRPr lang="en-US" sz="1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0E486F9-CE58-B80F-3B69-3AA0A10579EF}"/>
              </a:ext>
            </a:extLst>
          </p:cNvPr>
          <p:cNvSpPr/>
          <p:nvPr/>
        </p:nvSpPr>
        <p:spPr>
          <a:xfrm>
            <a:off x="6502283" y="3031931"/>
            <a:ext cx="4136738" cy="82296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📝 Typed content back</a:t>
            </a:r>
          </a:p>
          <a:p>
            <a:r>
              <a:rPr lang="en-US" sz="1000" dirty="0">
                <a:solidFill>
                  <a:schemeClr val="tx1"/>
                </a:solidFill>
              </a:rPr>
              <a:t>Responds with validated content blocks: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Text/Blob/Image content blocks (with </a:t>
            </a:r>
            <a:r>
              <a:rPr lang="en-US" sz="1000" dirty="0" err="1">
                <a:solidFill>
                  <a:schemeClr val="tx1"/>
                </a:solidFill>
              </a:rPr>
              <a:t>mimeType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Prompt messages, completion values (ranked)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URI templates (parameterized access)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FFE9963-EB30-C1E9-7645-DD2454556CDF}"/>
              </a:ext>
            </a:extLst>
          </p:cNvPr>
          <p:cNvSpPr/>
          <p:nvPr/>
        </p:nvSpPr>
        <p:spPr>
          <a:xfrm>
            <a:off x="10748817" y="3030552"/>
            <a:ext cx="1280160" cy="82296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Reads files, repos, or APIs → serializes into typed MCP content.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0EBAF4C-484E-2089-C9CA-A328925E8AF2}"/>
              </a:ext>
            </a:extLst>
          </p:cNvPr>
          <p:cNvSpPr/>
          <p:nvPr/>
        </p:nvSpPr>
        <p:spPr>
          <a:xfrm>
            <a:off x="1893569" y="3988267"/>
            <a:ext cx="1097280" cy="82296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Chooses tool based on advertised </a:t>
            </a:r>
            <a:r>
              <a:rPr lang="en-US" sz="1000" dirty="0" err="1">
                <a:solidFill>
                  <a:schemeClr val="tx1"/>
                </a:solidFill>
              </a:rPr>
              <a:t>inputSchema</a:t>
            </a:r>
            <a:r>
              <a:rPr lang="en-US" sz="1000" dirty="0">
                <a:solidFill>
                  <a:schemeClr val="tx1"/>
                </a:solidFill>
              </a:rPr>
              <a:t> / </a:t>
            </a:r>
            <a:r>
              <a:rPr lang="en-US" sz="1000" dirty="0" err="1">
                <a:solidFill>
                  <a:schemeClr val="tx1"/>
                </a:solidFill>
              </a:rPr>
              <a:t>outputSchema</a:t>
            </a:r>
            <a:r>
              <a:rPr lang="en-US" sz="100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E19B7B-7A7A-CD5E-1E02-DB993FEC4EC0}"/>
              </a:ext>
            </a:extLst>
          </p:cNvPr>
          <p:cNvSpPr/>
          <p:nvPr/>
        </p:nvSpPr>
        <p:spPr>
          <a:xfrm>
            <a:off x="3100646" y="3986347"/>
            <a:ext cx="3291840" cy="82296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▶️ Execute tool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Invokes tools with validated </a:t>
            </a:r>
            <a:r>
              <a:rPr lang="en-US" sz="1000" b="1" dirty="0" err="1">
                <a:solidFill>
                  <a:schemeClr val="tx1"/>
                </a:solidFill>
              </a:rPr>
              <a:t>args</a:t>
            </a:r>
            <a:endParaRPr lang="en-US" sz="10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Sends </a:t>
            </a: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tools/call </a:t>
            </a:r>
            <a:r>
              <a:rPr lang="en-US" sz="1000" dirty="0">
                <a:solidFill>
                  <a:schemeClr val="tx1"/>
                </a:solidFill>
              </a:rPr>
              <a:t>with </a:t>
            </a:r>
            <a:r>
              <a:rPr lang="en-US" sz="1000" dirty="0" err="1">
                <a:solidFill>
                  <a:schemeClr val="tx1"/>
                </a:solidFill>
              </a:rPr>
              <a:t>args</a:t>
            </a: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validates via schema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handles HITL gating.</a:t>
            </a:r>
            <a:endParaRPr lang="en-US" sz="1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56DC1AE-6089-8F6F-6D1F-62422132EF9E}"/>
              </a:ext>
            </a:extLst>
          </p:cNvPr>
          <p:cNvSpPr/>
          <p:nvPr/>
        </p:nvSpPr>
        <p:spPr>
          <a:xfrm>
            <a:off x="6502283" y="3990187"/>
            <a:ext cx="4136738" cy="82296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🚀 Validate &amp; Run</a:t>
            </a:r>
          </a:p>
          <a:p>
            <a:r>
              <a:rPr lang="en-US" sz="1000" dirty="0">
                <a:solidFill>
                  <a:schemeClr val="tx1"/>
                </a:solidFill>
              </a:rPr>
              <a:t>Validates inputs executes code or API → emits progress and returns</a:t>
            </a:r>
          </a:p>
          <a:p>
            <a:r>
              <a:rPr lang="en-US" sz="800" b="1" dirty="0">
                <a:solidFill>
                  <a:schemeClr val="tx1"/>
                </a:solidFill>
              </a:rPr>
              <a:t>• </a:t>
            </a:r>
            <a:r>
              <a:rPr lang="en-US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content[] (human-readable)</a:t>
            </a:r>
          </a:p>
          <a:p>
            <a:r>
              <a:rPr lang="en-US" sz="800" b="1" dirty="0">
                <a:solidFill>
                  <a:schemeClr val="tx1"/>
                </a:solidFill>
              </a:rPr>
              <a:t>• </a:t>
            </a:r>
            <a:r>
              <a:rPr lang="en-US" sz="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structuredContent</a:t>
            </a:r>
            <a:r>
              <a:rPr lang="en-US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{} (machine-typed).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F59DC20-1B5C-0040-63B8-7F44B9B4447A}"/>
              </a:ext>
            </a:extLst>
          </p:cNvPr>
          <p:cNvSpPr/>
          <p:nvPr/>
        </p:nvSpPr>
        <p:spPr>
          <a:xfrm>
            <a:off x="10748817" y="3992107"/>
            <a:ext cx="1280160" cy="82296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Real side effects - call weather API, DB, file writes.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DAA09DD-61B5-F5F1-67B1-9DCEA7AF1E96}"/>
              </a:ext>
            </a:extLst>
          </p:cNvPr>
          <p:cNvSpPr/>
          <p:nvPr/>
        </p:nvSpPr>
        <p:spPr>
          <a:xfrm>
            <a:off x="1893570" y="4947556"/>
            <a:ext cx="1097280" cy="9144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Gets re-contextualized when client refreshes.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067724E-3D90-92A1-17A9-43DAAFAFF5DA}"/>
              </a:ext>
            </a:extLst>
          </p:cNvPr>
          <p:cNvSpPr/>
          <p:nvPr/>
        </p:nvSpPr>
        <p:spPr>
          <a:xfrm>
            <a:off x="3100647" y="4944996"/>
            <a:ext cx="3291840" cy="9144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🎧 Listen &amp; Follow-up</a:t>
            </a:r>
          </a:p>
          <a:p>
            <a:r>
              <a:rPr lang="en-US" sz="1000" dirty="0">
                <a:solidFill>
                  <a:schemeClr val="tx1"/>
                </a:solidFill>
              </a:rPr>
              <a:t>Listens for: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notifications/resources/</a:t>
            </a:r>
            <a:r>
              <a:rPr lang="en-US" sz="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list_changed</a:t>
            </a:r>
            <a:endParaRPr lang="en-US" sz="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notifications/resources/updated.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notifications/tools/</a:t>
            </a:r>
            <a:r>
              <a:rPr lang="en-US" sz="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list_changed</a:t>
            </a:r>
            <a:endParaRPr lang="en-US" sz="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Uses </a:t>
            </a: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en-US" sz="1000" dirty="0">
                <a:solidFill>
                  <a:schemeClr val="tx1"/>
                </a:solidFill>
              </a:rPr>
              <a:t> for pagination.</a:t>
            </a:r>
            <a:endParaRPr lang="en-US" sz="1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337B92-43C4-8970-D18C-06F2CC80F1FF}"/>
              </a:ext>
            </a:extLst>
          </p:cNvPr>
          <p:cNvSpPr/>
          <p:nvPr/>
        </p:nvSpPr>
        <p:spPr>
          <a:xfrm>
            <a:off x="6502284" y="4950116"/>
            <a:ext cx="4136738" cy="9144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 📊 Emit changes</a:t>
            </a:r>
          </a:p>
          <a:p>
            <a:r>
              <a:rPr lang="en-US" sz="1000" dirty="0">
                <a:solidFill>
                  <a:schemeClr val="tx1"/>
                </a:solidFill>
              </a:rPr>
              <a:t>Emits updates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If </a:t>
            </a:r>
            <a:r>
              <a:rPr lang="en-US" sz="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listChanged</a:t>
            </a:r>
            <a:r>
              <a:rPr lang="en-US" sz="1000" dirty="0">
                <a:solidFill>
                  <a:schemeClr val="tx1"/>
                </a:solidFill>
              </a:rPr>
              <a:t>=</a:t>
            </a: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sz="1000" dirty="0">
                <a:solidFill>
                  <a:schemeClr val="tx1"/>
                </a:solidFill>
              </a:rPr>
              <a:t> send list change notifications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If </a:t>
            </a: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subscribe</a:t>
            </a:r>
            <a:r>
              <a:rPr lang="en-US" sz="1000" dirty="0">
                <a:solidFill>
                  <a:schemeClr val="tx1"/>
                </a:solidFill>
              </a:rPr>
              <a:t>=</a:t>
            </a: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1000" dirty="0">
                <a:solidFill>
                  <a:schemeClr val="tx1"/>
                </a:solidFill>
              </a:rPr>
              <a:t>, support </a:t>
            </a: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resources/subscribe</a:t>
            </a:r>
            <a:r>
              <a:rPr lang="en-US" sz="1000" dirty="0">
                <a:solidFill>
                  <a:schemeClr val="tx1"/>
                </a:solidFill>
              </a:rPr>
              <a:t> → </a:t>
            </a: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…/updated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5D867DE-E242-5B7D-255B-0E7C89B71EA1}"/>
              </a:ext>
            </a:extLst>
          </p:cNvPr>
          <p:cNvSpPr/>
          <p:nvPr/>
        </p:nvSpPr>
        <p:spPr>
          <a:xfrm>
            <a:off x="10748817" y="4952676"/>
            <a:ext cx="1280160" cy="9144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Change sources (new commits/files/rows) trigger notifications.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D0D3A4A-2D62-845D-49A8-A11EAFC91825}"/>
              </a:ext>
            </a:extLst>
          </p:cNvPr>
          <p:cNvSpPr/>
          <p:nvPr/>
        </p:nvSpPr>
        <p:spPr>
          <a:xfrm>
            <a:off x="1893569" y="5998283"/>
            <a:ext cx="1097280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No outbound calls, depends on client mediation.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3E3E429-4C7E-C309-3323-1795CB368090}"/>
              </a:ext>
            </a:extLst>
          </p:cNvPr>
          <p:cNvSpPr/>
          <p:nvPr/>
        </p:nvSpPr>
        <p:spPr>
          <a:xfrm>
            <a:off x="3100646" y="5995083"/>
            <a:ext cx="3291840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👨🏻‍💻 User safety &amp; errors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HITL prompts on sensitive ops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Enforce only declared capabilities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handles JSON-RPC errors (-32601/02/03).</a:t>
            </a:r>
            <a:endParaRPr lang="en-US" sz="1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11E81DC-3DC5-81FF-3D58-74B5DEFC5BB5}"/>
              </a:ext>
            </a:extLst>
          </p:cNvPr>
          <p:cNvSpPr/>
          <p:nvPr/>
        </p:nvSpPr>
        <p:spPr>
          <a:xfrm>
            <a:off x="6502283" y="6001483"/>
            <a:ext cx="4136738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🚧 Production guardrails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Performs Input validation, OAuth2 RS , Rate limiting , Binary encoding.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Transports: </a:t>
            </a:r>
            <a:r>
              <a:rPr lang="en-US" sz="1000" dirty="0" err="1">
                <a:solidFill>
                  <a:schemeClr val="tx1"/>
                </a:solidFill>
              </a:rPr>
              <a:t>stdio</a:t>
            </a:r>
            <a:r>
              <a:rPr lang="en-US" sz="1000" dirty="0">
                <a:solidFill>
                  <a:schemeClr val="tx1"/>
                </a:solidFill>
              </a:rPr>
              <a:t> (dev), </a:t>
            </a:r>
            <a:r>
              <a:rPr lang="en-US" sz="1000" dirty="0" err="1">
                <a:solidFill>
                  <a:schemeClr val="tx1"/>
                </a:solidFill>
              </a:rPr>
              <a:t>Streamable</a:t>
            </a:r>
            <a:r>
              <a:rPr lang="en-US" sz="1000" dirty="0">
                <a:solidFill>
                  <a:schemeClr val="tx1"/>
                </a:solidFill>
              </a:rPr>
              <a:t> HTTP (prod), SSE (legacy).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08072BF-98A3-3E5E-26B4-DC3FBEB238F5}"/>
              </a:ext>
            </a:extLst>
          </p:cNvPr>
          <p:cNvSpPr/>
          <p:nvPr/>
        </p:nvSpPr>
        <p:spPr>
          <a:xfrm>
            <a:off x="10748817" y="6004683"/>
            <a:ext cx="1280160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Logging + Audit + Policy enforcement (scopes, tenancy).</a:t>
            </a: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6BCE87BA-B9B2-357B-12EE-70FCC82AC939}"/>
              </a:ext>
            </a:extLst>
          </p:cNvPr>
          <p:cNvSpPr/>
          <p:nvPr/>
        </p:nvSpPr>
        <p:spPr>
          <a:xfrm>
            <a:off x="0" y="1018960"/>
            <a:ext cx="381000" cy="5613003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Lifecycle Phases</a:t>
            </a:r>
          </a:p>
        </p:txBody>
      </p:sp>
      <p:sp>
        <p:nvSpPr>
          <p:cNvPr id="52" name="Arrow: Left-Right 51">
            <a:extLst>
              <a:ext uri="{FF2B5EF4-FFF2-40B4-BE49-F238E27FC236}">
                <a16:creationId xmlns:a16="http://schemas.microsoft.com/office/drawing/2014/main" id="{C1C4BD16-F40E-D8EF-4BCD-39A9303B0000}"/>
              </a:ext>
            </a:extLst>
          </p:cNvPr>
          <p:cNvSpPr/>
          <p:nvPr/>
        </p:nvSpPr>
        <p:spPr>
          <a:xfrm>
            <a:off x="1906153" y="213237"/>
            <a:ext cx="10128827" cy="382179"/>
          </a:xfrm>
          <a:prstGeom prst="left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Message Path: LLM → Client → Server → Systems → back</a:t>
            </a:r>
          </a:p>
        </p:txBody>
      </p:sp>
    </p:spTree>
    <p:extLst>
      <p:ext uri="{BB962C8B-B14F-4D97-AF65-F5344CB8AC3E}">
        <p14:creationId xmlns:p14="http://schemas.microsoft.com/office/powerpoint/2010/main" val="2038132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1693</Words>
  <Application>Microsoft Office PowerPoint</Application>
  <PresentationFormat>Widescreen</PresentationFormat>
  <Paragraphs>264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How MCP Works: The Protocol in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Neural Ninja</dc:creator>
  <cp:lastModifiedBy>Neural Ninja</cp:lastModifiedBy>
  <cp:revision>3</cp:revision>
  <dcterms:created xsi:type="dcterms:W3CDTF">2025-11-11T03:15:18Z</dcterms:created>
  <dcterms:modified xsi:type="dcterms:W3CDTF">2025-11-11T12:49:43Z</dcterms:modified>
</cp:coreProperties>
</file>